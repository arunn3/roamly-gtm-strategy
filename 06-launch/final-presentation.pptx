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Roamly is a marketplace of curated local experiences: 12,000+ vetted hosts, 40 cities, repeat booking at 3x the industry average. Leadership has decided to launch Roamly Groups. The question I answer: who is it for, how do we bring it to market, and how do we avoid disrupting what already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GTM strategy. I ran the Discover Framework: demand is visible in behavior (users forcing group bookings, high drop-off). Of five candidate segments I chose friend-group and celebration organizers because the product is ready for them and they fit a product-led motion: four of five inputs point to PLG. Corporate offsites would be sales-led and the product likely is not ready, so I deferred them. Tier 2 launch. North-star is fully paid group bookings. Riskiest assumption: invitees will join from a link and pay fast. Sources: S1 CIT Bank / Harris Poll, May 2026, n=2,067. Roamly baselines were not provided; targets are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Module 2, my primary competitor is the status quo, because over half of sales processes end in no decision and the group chat plus Venmo plus spreadsheet is what organizers use today. Named competitors each solve a slice: tour sites sell fixed group tours, Airbnb private groups depend on host opt-in and show no payment split, planning and payment apps are single purpose. Be honest about why they win: for close friends, I'll just Venmo you costs nothing. Data to insight to belief to bet: the pain is the organizer's burden, not booking logistics. The sacrifice: no corporate features, no paid acquisition, no changes to individual booking. Competitor facts come from public pages, not hands-on tests; S5 is vendor-published.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follows the six-component framework starting with the target audience. Category play: reframe. Tour marketplaces compete on catalog and price; I change what matters to how much work the organizer carries. The Despite line is deliberately honest: Groups is new, has no track record, and invitees must trust a platform they may not know. Core product truth: among the alternatives I reviewed, none combines a booking marketplace, split payment and shared itinerary; verify hands-on before launch. Pressure tests were a desk review; the real five-customer test happens in the beta. Ownability is the weak spot: 'one link, everyone pays' is copyable, so the ownable part is the combination plus vetted local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need their own pillar: the organizer decides and fronts the money; the invitee pays but did not choose and may be new to Roamly. Hosts are an enablement audience in the launch plan rather than an external pillar. Pillars run value first, capabilities second, evidence last. Market evidence is sourced (S1); Groups-specific proof slots are left empty until the beta, with no invented performance claims. The visual asset is an illustrative mockup with placeholder price and experience. A human blind read is still to be done. Invite email subject line: '[Name] invited you to [experience]. Your share is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goal: enter a new market, not maximize revenue, because the bet depends on a product-led loop and friction in price, especially on the invitee side, works against it. Model: transaction-based hybrid, because value is event-driven and the organizer, our loop starter, should pay nothing to organize. Packaging by group size and features in a Good-Better-Best ladder; Plus is the Goldilocks middle. Concierge is a waitlist to measure larger and corporate demand without building enterprise features. All fee levels are hypotheses; we have no willingness-to-pay data and no commission data. Biggest open question: who bears the fee. Research: Van Westendorp for the range, Max-Diff for tier contents, recruited against the ICP. Cost check uses the 2.9% + $0.30 benchmark as a stand-in for Roamly's real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insights, written from the working process; edit these to match your own experience before presenting. Friction points: no Roamly data beyond the brief; choosing friend-groups over corporate offsites; vendor-published sources flagged as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bet. The six pieces form one argument: organizer burden defines the segment, the segment defines the motion, the competitor insight defines the bet, and the bet shapes positioning, messaging, price and launch. Appendix follows with the launch plan, metrics and open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is not release: the product is ready, but the launch waits for beta evidence. Closed beta first, owned channels only, to test the riskiest assumption. Enablement order for a product-led launch: Leadership, Support, Customer Success, Host Partnerships, then Marketing last, once positioning is locked. Dates are relative to launch day because no calendar was given; a post-holiday window is an assumption to check against Roamly's seasonality.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metric points to a decision: acquisition by channel tests channel choice; activation tests messaging and onboarding; conversion by fee cell tests pricing; repeat groups and displacement of the DIY stack test positioning; support tickets test enablement. Thresholds are proposals until the week-0 baseline is pulled.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assumption register is in Deliverable 1 (A1 to A9).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62C"/>
        </a:solidFill>
      </p:bgPr>
    </p:bg>
    <p:spTree>
      <p:nvGrpSpPr>
        <p:cNvPr id="1" name=""/>
        <p:cNvGrpSpPr/>
        <p:nvPr/>
      </p:nvGrpSpPr>
      <p:grpSpPr>
        <a:xfrm>
          <a:off x="0" y="0"/>
          <a:ext cx="0" cy="0"/>
          <a:chOff x="0" y="0"/>
          <a:chExt cx="0" cy="0"/>
        </a:xfrm>
      </p:grpSpPr>
      <p:sp>
        <p:nvSpPr>
          <p:cNvPr id="2" name="Text 0"/>
          <p:cNvSpPr txBox="1"/>
          <p:nvPr/>
        </p:nvSpPr>
        <p:spPr>
          <a:xfrm>
            <a:off x="640080" y="1005840"/>
            <a:ext cx="7863840" cy="274320"/>
          </a:xfrm>
          <a:prstGeom prst="rect">
            <a:avLst/>
          </a:prstGeom>
          <a:noFill/>
          <a:ln/>
        </p:spPr>
        <p:txBody>
          <a:bodyPr wrap="square" lIns="0" tIns="0" rIns="0" bIns="0" rtlCol="0" anchor="ctr"/>
          <a:lstStyle/>
          <a:p>
            <a:pPr indent="0" marL="0">
              <a:buNone/>
            </a:pPr>
            <a:r>
              <a:rPr lang="en-US" sz="1200" b="1" spc="300" kern="0" dirty="0">
                <a:solidFill>
                  <a:srgbClr val="3B82F6"/>
                </a:solidFill>
                <a:latin typeface="Calibri" pitchFamily="34" charset="0"/>
                <a:ea typeface="Calibri" pitchFamily="34" charset="-122"/>
                <a:cs typeface="Calibri" pitchFamily="34" charset="-120"/>
              </a:rPr>
              <a:t>GO-TO-MARKET FINAL PROJECT</a:t>
            </a:r>
            <a:endParaRPr lang="en-US" sz="1200" dirty="0"/>
          </a:p>
        </p:txBody>
      </p:sp>
      <p:sp>
        <p:nvSpPr>
          <p:cNvPr id="3" name="Text 1"/>
          <p:cNvSpPr txBox="1"/>
          <p:nvPr/>
        </p:nvSpPr>
        <p:spPr>
          <a:xfrm>
            <a:off x="640080" y="1371600"/>
            <a:ext cx="78638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Roamly Groups</a:t>
            </a:r>
            <a:endParaRPr lang="en-US" sz="5400" dirty="0"/>
          </a:p>
        </p:txBody>
      </p:sp>
      <p:sp>
        <p:nvSpPr>
          <p:cNvPr id="4" name="Text 2"/>
          <p:cNvSpPr txBox="1"/>
          <p:nvPr/>
        </p:nvSpPr>
        <p:spPr>
          <a:xfrm>
            <a:off x="640080" y="2377440"/>
            <a:ext cx="6949440" cy="731520"/>
          </a:xfrm>
          <a:prstGeom prst="rect">
            <a:avLst/>
          </a:prstGeom>
          <a:noFill/>
          <a:ln/>
        </p:spPr>
        <p:txBody>
          <a:bodyPr wrap="square" lIns="0" tIns="0" rIns="0" bIns="0" rtlCol="0" anchor="t"/>
          <a:lstStyle/>
          <a:p>
            <a:pPr indent="0" marL="0">
              <a:buNone/>
            </a:pPr>
            <a:r>
              <a:rPr lang="en-US" sz="2000" dirty="0">
                <a:solidFill>
                  <a:srgbClr val="DCE6F5"/>
                </a:solidFill>
                <a:latin typeface="Calibri" pitchFamily="34" charset="0"/>
                <a:ea typeface="Calibri" pitchFamily="34" charset="-122"/>
                <a:cs typeface="Calibri" pitchFamily="34" charset="-120"/>
              </a:rPr>
              <a:t>Launching group booking: one link, everyone in, everyone pays their own share.</a:t>
            </a:r>
            <a:endParaRPr lang="en-US" sz="2000" dirty="0"/>
          </a:p>
        </p:txBody>
      </p:sp>
      <p:sp>
        <p:nvSpPr>
          <p:cNvPr id="5" name="Text 3"/>
          <p:cNvSpPr txBox="1"/>
          <p:nvPr/>
        </p:nvSpPr>
        <p:spPr>
          <a:xfrm>
            <a:off x="640080" y="4114800"/>
            <a:ext cx="7863840" cy="274320"/>
          </a:xfrm>
          <a:prstGeom prst="rect">
            <a:avLst/>
          </a:prstGeom>
          <a:noFill/>
          <a:ln/>
        </p:spPr>
        <p:txBody>
          <a:bodyPr wrap="square" lIns="0" tIns="0" rIns="0" bIns="0" rtlCol="0" anchor="ctr"/>
          <a:lstStyle/>
          <a:p>
            <a:pPr indent="0" marL="0">
              <a:buNone/>
            </a:pPr>
            <a:r>
              <a:rPr lang="en-US" sz="1300" dirty="0">
                <a:solidFill>
                  <a:srgbClr val="DCE6F5"/>
                </a:solidFill>
                <a:latin typeface="Calibri" pitchFamily="34" charset="0"/>
                <a:ea typeface="Calibri" pitchFamily="34" charset="-122"/>
                <a:cs typeface="Calibri" pitchFamily="34" charset="-120"/>
              </a:rPr>
              <a:t>Arun · Senior Product Manager, Roamly · September 30,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3B82F6"/>
                </a:solidFill>
                <a:latin typeface="Calibri" pitchFamily="34" charset="0"/>
                <a:ea typeface="Calibri" pitchFamily="34" charset="-122"/>
                <a:cs typeface="Calibri" pitchFamily="34" charset="-120"/>
              </a:rPr>
              <a:t>01 · GTM STRATEGY</a:t>
            </a:r>
            <a:endParaRPr lang="en-US" sz="1050" dirty="0"/>
          </a:p>
        </p:txBody>
      </p:sp>
      <p:sp>
        <p:nvSpPr>
          <p:cNvPr id="3" name="Text 1"/>
          <p:cNvSpPr txBox="1"/>
          <p:nvPr/>
        </p:nvSpPr>
        <p:spPr>
          <a:xfrm>
            <a:off x="457200" y="502920"/>
            <a:ext cx="8229600" cy="502920"/>
          </a:xfrm>
          <a:prstGeom prst="rect">
            <a:avLst/>
          </a:prstGeom>
          <a:noFill/>
          <a:ln/>
        </p:spPr>
        <p:txBody>
          <a:bodyPr wrap="square" lIns="0" tIns="0" rIns="0" bIns="0" rtlCol="0" anchor="t"/>
          <a:lstStyle/>
          <a:p>
            <a:pPr indent="0" marL="0">
              <a:buNone/>
            </a:pPr>
            <a:r>
              <a:rPr lang="en-US" sz="2400" b="1" dirty="0">
                <a:solidFill>
                  <a:srgbClr val="07162C"/>
                </a:solidFill>
                <a:latin typeface="Cambria" pitchFamily="34" charset="0"/>
                <a:ea typeface="Cambria" pitchFamily="34" charset="-122"/>
                <a:cs typeface="Cambria" pitchFamily="34" charset="-120"/>
              </a:rPr>
              <a:t>Win the organizer first, with a product-led loop</a:t>
            </a:r>
            <a:endParaRPr lang="en-US" sz="2400" dirty="0"/>
          </a:p>
        </p:txBody>
      </p:sp>
      <p:sp>
        <p:nvSpPr>
          <p:cNvPr id="4" name="Text 2"/>
          <p:cNvSpPr txBox="1"/>
          <p:nvPr/>
        </p:nvSpPr>
        <p:spPr>
          <a:xfrm>
            <a:off x="8412480" y="4828032"/>
            <a:ext cx="274320" cy="18288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457200" y="1097280"/>
            <a:ext cx="265176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3246120" y="1097280"/>
            <a:ext cx="265176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6035040" y="1097280"/>
            <a:ext cx="2651760" cy="2377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40080" y="1234440"/>
            <a:ext cx="2286000" cy="256032"/>
          </a:xfrm>
          <a:prstGeom prst="rect">
            <a:avLst/>
          </a:prstGeom>
          <a:noFill/>
          <a:ln/>
        </p:spPr>
        <p:txBody>
          <a:bodyPr wrap="square" lIns="0" tIns="0" rIns="0" bIns="0" rtlCol="0" anchor="ctr"/>
          <a:lstStyle/>
          <a:p>
            <a:pPr indent="0" marL="0">
              <a:buNone/>
            </a:pPr>
            <a:r>
              <a:rPr lang="en-US" sz="1100" b="1" spc="150" kern="0" dirty="0">
                <a:solidFill>
                  <a:srgbClr val="3B82F6"/>
                </a:solidFill>
                <a:latin typeface="Calibri" pitchFamily="34" charset="0"/>
                <a:ea typeface="Calibri" pitchFamily="34" charset="-122"/>
                <a:cs typeface="Calibri" pitchFamily="34" charset="-120"/>
              </a:rPr>
              <a:t>WHO</a:t>
            </a:r>
            <a:endParaRPr lang="en-US" sz="1100" dirty="0"/>
          </a:p>
        </p:txBody>
      </p:sp>
      <p:sp>
        <p:nvSpPr>
          <p:cNvPr id="9" name="Text 7"/>
          <p:cNvSpPr txBox="1"/>
          <p:nvPr/>
        </p:nvSpPr>
        <p:spPr>
          <a:xfrm>
            <a:off x="640080" y="1508760"/>
            <a:ext cx="2286000" cy="1874520"/>
          </a:xfrm>
          <a:prstGeom prst="rect">
            <a:avLst/>
          </a:prstGeom>
          <a:noFill/>
          <a:ln/>
        </p:spPr>
        <p:txBody>
          <a:bodyPr wrap="square" lIns="0" tIns="0" rIns="0" bIns="0" rtlCol="0" anchor="t"/>
          <a:lstStyle/>
          <a:p>
            <a:pPr indent="0" marL="0">
              <a:spcAft>
                <a:spcPts val="500"/>
              </a:spcAft>
              <a:buNone/>
            </a:pPr>
            <a:r>
              <a:rPr lang="en-US" sz="1200" dirty="0">
                <a:solidFill>
                  <a:srgbClr val="0F1E33"/>
                </a:solidFill>
                <a:latin typeface="Calibri" pitchFamily="34" charset="0"/>
                <a:ea typeface="Calibri" pitchFamily="34" charset="-122"/>
                <a:cs typeface="Calibri" pitchFamily="34" charset="-120"/>
              </a:rPr>
              <a:t>Friend-group and celebration organizers (5–12 people), already Roamly users.</a:t>
            </a:r>
            <a:endParaRPr lang="en-US" sz="1200" dirty="0"/>
          </a:p>
          <a:p>
            <a:pPr indent="0" marL="0">
              <a:spcAft>
                <a:spcPts val="500"/>
              </a:spcAft>
              <a:buNone/>
            </a:pPr>
            <a:r>
              <a:rPr lang="en-US" sz="1200" dirty="0">
                <a:solidFill>
                  <a:srgbClr val="0F1E33"/>
                </a:solidFill>
                <a:latin typeface="Calibri" pitchFamily="34" charset="0"/>
                <a:ea typeface="Calibri" pitchFamily="34" charset="-122"/>
                <a:cs typeface="Calibri" pitchFamily="34" charset="-120"/>
              </a:rPr>
              <a:t>Why first: users already force group bookings through the product, the product is ready, and every organizer brings in invitees.</a:t>
            </a:r>
            <a:endParaRPr lang="en-US" sz="1200" dirty="0"/>
          </a:p>
          <a:p>
            <a:pPr indent="0" marL="0">
              <a:spcAft>
                <a:spcPts val="500"/>
              </a:spcAft>
              <a:buNone/>
            </a:pPr>
            <a:r>
              <a:rPr lang="en-US" sz="1200" dirty="0">
                <a:solidFill>
                  <a:srgbClr val="0F1E33"/>
                </a:solidFill>
                <a:latin typeface="Calibri" pitchFamily="34" charset="0"/>
                <a:ea typeface="Calibri" pitchFamily="34" charset="-122"/>
                <a:cs typeface="Calibri" pitchFamily="34" charset="-120"/>
              </a:rPr>
              <a:t>Deferred: corporate offsites, families, wedding parties.</a:t>
            </a:r>
            <a:endParaRPr lang="en-US" sz="1200" dirty="0"/>
          </a:p>
        </p:txBody>
      </p:sp>
      <p:sp>
        <p:nvSpPr>
          <p:cNvPr id="10" name="Text 8"/>
          <p:cNvSpPr txBox="1"/>
          <p:nvPr/>
        </p:nvSpPr>
        <p:spPr>
          <a:xfrm>
            <a:off x="3429000" y="1234440"/>
            <a:ext cx="2286000" cy="256032"/>
          </a:xfrm>
          <a:prstGeom prst="rect">
            <a:avLst/>
          </a:prstGeom>
          <a:noFill/>
          <a:ln/>
        </p:spPr>
        <p:txBody>
          <a:bodyPr wrap="square" lIns="0" tIns="0" rIns="0" bIns="0" rtlCol="0" anchor="ctr"/>
          <a:lstStyle/>
          <a:p>
            <a:pPr indent="0" marL="0">
              <a:buNone/>
            </a:pPr>
            <a:r>
              <a:rPr lang="en-US" sz="1100" b="1" spc="150" kern="0" dirty="0">
                <a:solidFill>
                  <a:srgbClr val="3B82F6"/>
                </a:solidFill>
                <a:latin typeface="Calibri" pitchFamily="34" charset="0"/>
                <a:ea typeface="Calibri" pitchFamily="34" charset="-122"/>
                <a:cs typeface="Calibri" pitchFamily="34" charset="-120"/>
              </a:rPr>
              <a:t>MOTION</a:t>
            </a:r>
            <a:endParaRPr lang="en-US" sz="1100" dirty="0"/>
          </a:p>
        </p:txBody>
      </p:sp>
      <p:sp>
        <p:nvSpPr>
          <p:cNvPr id="11" name="Text 9"/>
          <p:cNvSpPr txBox="1"/>
          <p:nvPr/>
        </p:nvSpPr>
        <p:spPr>
          <a:xfrm>
            <a:off x="3429000" y="1490472"/>
            <a:ext cx="2286000" cy="274320"/>
          </a:xfrm>
          <a:prstGeom prst="rect">
            <a:avLst/>
          </a:prstGeom>
          <a:noFill/>
          <a:ln/>
        </p:spPr>
        <p:txBody>
          <a:bodyPr wrap="square" lIns="0" tIns="0" rIns="0" bIns="0" rtlCol="0" anchor="ctr"/>
          <a:lstStyle/>
          <a:p>
            <a:pPr indent="0" marL="0">
              <a:buNone/>
            </a:pPr>
            <a:r>
              <a:rPr lang="en-US" sz="1500" b="1" dirty="0">
                <a:solidFill>
                  <a:srgbClr val="07162C"/>
                </a:solidFill>
                <a:latin typeface="Cambria" pitchFamily="34" charset="0"/>
                <a:ea typeface="Cambria" pitchFamily="34" charset="-122"/>
                <a:cs typeface="Cambria" pitchFamily="34" charset="-120"/>
              </a:rPr>
              <a:t>Product-led (PLG)</a:t>
            </a:r>
            <a:endParaRPr lang="en-US" sz="1500" dirty="0"/>
          </a:p>
        </p:txBody>
      </p:sp>
      <p:sp>
        <p:nvSpPr>
          <p:cNvPr id="12" name="Text 10"/>
          <p:cNvSpPr txBox="1"/>
          <p:nvPr/>
        </p:nvSpPr>
        <p:spPr>
          <a:xfrm>
            <a:off x="3429000" y="1828800"/>
            <a:ext cx="2286000" cy="1554480"/>
          </a:xfrm>
          <a:prstGeom prst="rect">
            <a:avLst/>
          </a:prstGeom>
          <a:noFill/>
          <a:ln/>
        </p:spPr>
        <p:txBody>
          <a:bodyPr wrap="square" lIns="0" tIns="0" rIns="0" bIns="0" rtlCol="0" anchor="t"/>
          <a:lstStyle/>
          <a:p>
            <a:pPr indent="0" marL="0">
              <a:spcAft>
                <a:spcPts val="300"/>
              </a:spcAft>
              <a:buNone/>
            </a:pPr>
            <a:r>
              <a:rPr lang="en-US" sz="1200" dirty="0">
                <a:solidFill>
                  <a:srgbClr val="0F1E33"/>
                </a:solidFill>
                <a:latin typeface="Calibri" pitchFamily="34" charset="0"/>
                <a:ea typeface="Calibri" pitchFamily="34" charset="-122"/>
                <a:cs typeface="Calibri" pitchFamily="34" charset="-120"/>
              </a:rPr>
              <a:t>Time to value:  minutes</a:t>
            </a:r>
            <a:endParaRPr lang="en-US" sz="1200" dirty="0"/>
          </a:p>
          <a:p>
            <a:pPr indent="0" marL="0">
              <a:spcAft>
                <a:spcPts val="300"/>
              </a:spcAft>
              <a:buNone/>
            </a:pPr>
            <a:r>
              <a:rPr lang="en-US" sz="1200" dirty="0">
                <a:solidFill>
                  <a:srgbClr val="0F1E33"/>
                </a:solidFill>
                <a:latin typeface="Calibri" pitchFamily="34" charset="0"/>
                <a:ea typeface="Calibri" pitchFamily="34" charset="-122"/>
                <a:cs typeface="Calibri" pitchFamily="34" charset="-120"/>
              </a:rPr>
              <a:t>Buyer and user:  same person</a:t>
            </a:r>
            <a:endParaRPr lang="en-US" sz="1200" dirty="0"/>
          </a:p>
          <a:p>
            <a:pPr indent="0" marL="0">
              <a:spcAft>
                <a:spcPts val="300"/>
              </a:spcAft>
              <a:buNone/>
            </a:pPr>
            <a:r>
              <a:rPr lang="en-US" sz="1200" dirty="0">
                <a:solidFill>
                  <a:srgbClr val="0F1E33"/>
                </a:solidFill>
                <a:latin typeface="Calibri" pitchFamily="34" charset="0"/>
                <a:ea typeface="Calibri" pitchFamily="34" charset="-122"/>
                <a:cs typeface="Calibri" pitchFamily="34" charset="-120"/>
              </a:rPr>
              <a:t>Contract value:  low to mid</a:t>
            </a:r>
            <a:endParaRPr lang="en-US" sz="1200" dirty="0"/>
          </a:p>
          <a:p>
            <a:pPr indent="0" marL="0">
              <a:spcAft>
                <a:spcPts val="300"/>
              </a:spcAft>
              <a:buNone/>
            </a:pPr>
            <a:r>
              <a:rPr lang="en-US" sz="1200" dirty="0">
                <a:solidFill>
                  <a:srgbClr val="0F1E33"/>
                </a:solidFill>
                <a:latin typeface="Calibri" pitchFamily="34" charset="0"/>
                <a:ea typeface="Calibri" pitchFamily="34" charset="-122"/>
                <a:cs typeface="Calibri" pitchFamily="34" charset="-120"/>
              </a:rPr>
              <a:t>Sales cycle:  self-serve</a:t>
            </a:r>
            <a:endParaRPr lang="en-US" sz="1200" dirty="0"/>
          </a:p>
          <a:p>
            <a:pPr indent="0" marL="0">
              <a:spcAft>
                <a:spcPts val="300"/>
              </a:spcAft>
              <a:buNone/>
            </a:pPr>
            <a:r>
              <a:rPr lang="en-US" sz="1200" dirty="0">
                <a:solidFill>
                  <a:srgbClr val="0F1E33"/>
                </a:solidFill>
                <a:latin typeface="Calibri" pitchFamily="34" charset="0"/>
                <a:ea typeface="Calibri" pitchFamily="34" charset="-122"/>
                <a:cs typeface="Calibri" pitchFamily="34" charset="-120"/>
              </a:rPr>
              <a:t>Scales via:  product virality</a:t>
            </a:r>
            <a:endParaRPr lang="en-US" sz="1200" dirty="0"/>
          </a:p>
          <a:p>
            <a:pPr indent="0" marL="0">
              <a:buNone/>
            </a:pPr>
            <a:r>
              <a:rPr lang="en-US" sz="1200" i="1" dirty="0">
                <a:solidFill>
                  <a:srgbClr val="5B6B7C"/>
                </a:solidFill>
                <a:latin typeface="Calibri" pitchFamily="34" charset="0"/>
                <a:ea typeface="Calibri" pitchFamily="34" charset="-122"/>
                <a:cs typeface="Calibri" pitchFamily="34" charset="-120"/>
              </a:rPr>
              <a:t>Goal: Expand existing users; Acquire through invitees. Launch tier 2.</a:t>
            </a:r>
            <a:endParaRPr lang="en-US" sz="1200" dirty="0"/>
          </a:p>
        </p:txBody>
      </p:sp>
      <p:sp>
        <p:nvSpPr>
          <p:cNvPr id="13" name="Text 11"/>
          <p:cNvSpPr txBox="1"/>
          <p:nvPr/>
        </p:nvSpPr>
        <p:spPr>
          <a:xfrm>
            <a:off x="6217920" y="1234440"/>
            <a:ext cx="2286000" cy="256032"/>
          </a:xfrm>
          <a:prstGeom prst="rect">
            <a:avLst/>
          </a:prstGeom>
          <a:noFill/>
          <a:ln/>
        </p:spPr>
        <p:txBody>
          <a:bodyPr wrap="square" lIns="0" tIns="0" rIns="0" bIns="0" rtlCol="0" anchor="ctr"/>
          <a:lstStyle/>
          <a:p>
            <a:pPr indent="0" marL="0">
              <a:buNone/>
            </a:pPr>
            <a:r>
              <a:rPr lang="en-US" sz="1100" b="1" spc="150" kern="0" dirty="0">
                <a:solidFill>
                  <a:srgbClr val="3B82F6"/>
                </a:solidFill>
                <a:latin typeface="Calibri" pitchFamily="34" charset="0"/>
                <a:ea typeface="Calibri" pitchFamily="34" charset="-122"/>
                <a:cs typeface="Calibri" pitchFamily="34" charset="-120"/>
              </a:rPr>
              <a:t>V1 THESIS</a:t>
            </a:r>
            <a:endParaRPr lang="en-US" sz="1100" dirty="0"/>
          </a:p>
        </p:txBody>
      </p:sp>
      <p:sp>
        <p:nvSpPr>
          <p:cNvPr id="14" name="Text 12"/>
          <p:cNvSpPr txBox="1"/>
          <p:nvPr/>
        </p:nvSpPr>
        <p:spPr>
          <a:xfrm>
            <a:off x="6217920" y="1508760"/>
            <a:ext cx="2286000" cy="1874520"/>
          </a:xfrm>
          <a:prstGeom prst="rect">
            <a:avLst/>
          </a:prstGeom>
          <a:noFill/>
          <a:ln/>
        </p:spPr>
        <p:txBody>
          <a:bodyPr wrap="square" lIns="0" tIns="0" rIns="0" bIns="0" rtlCol="0" anchor="t"/>
          <a:lstStyle/>
          <a:p>
            <a:pPr indent="0" marL="0">
              <a:buNone/>
            </a:pPr>
            <a:r>
              <a:rPr lang="en-US" sz="1250" i="1" dirty="0">
                <a:solidFill>
                  <a:srgbClr val="0F1E33"/>
                </a:solidFill>
                <a:latin typeface="Calibri" pitchFamily="34" charset="0"/>
                <a:ea typeface="Calibri" pitchFamily="34" charset="-122"/>
                <a:cs typeface="Calibri" pitchFamily="34" charset="-120"/>
              </a:rPr>
              <a:t>For trip organizers who end up chasing friends for replies and money, Roamly Groups lets one person book, split and plan a whole party from a single link. Unlike a group chat, a payments app and a spreadsheet, it collects each share up front.</a:t>
            </a:r>
            <a:endParaRPr lang="en-US" sz="1250" dirty="0"/>
          </a:p>
        </p:txBody>
      </p:sp>
      <p:sp>
        <p:nvSpPr>
          <p:cNvPr id="15" name="Shape 13"/>
          <p:cNvSpPr/>
          <p:nvPr/>
        </p:nvSpPr>
        <p:spPr>
          <a:xfrm>
            <a:off x="457200" y="3611880"/>
            <a:ext cx="2651760" cy="77724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594360" y="3639312"/>
            <a:ext cx="868680" cy="713232"/>
          </a:xfrm>
          <a:prstGeom prst="rect">
            <a:avLst/>
          </a:prstGeom>
          <a:noFill/>
          <a:ln/>
        </p:spPr>
        <p:txBody>
          <a:bodyPr wrap="square" lIns="0" tIns="0" rIns="0" bIns="0" rtlCol="0" anchor="ctr"/>
          <a:lstStyle/>
          <a:p>
            <a:pPr indent="0" marL="0">
              <a:buNone/>
            </a:pPr>
            <a:r>
              <a:rPr lang="en-US" sz="2800" b="1" dirty="0">
                <a:solidFill>
                  <a:srgbClr val="F59E5B"/>
                </a:solidFill>
                <a:latin typeface="Cambria" pitchFamily="34" charset="0"/>
                <a:ea typeface="Cambria" pitchFamily="34" charset="-122"/>
                <a:cs typeface="Cambria" pitchFamily="34" charset="-120"/>
              </a:rPr>
              <a:t>54%</a:t>
            </a:r>
            <a:endParaRPr lang="en-US" sz="2800" dirty="0"/>
          </a:p>
        </p:txBody>
      </p:sp>
      <p:sp>
        <p:nvSpPr>
          <p:cNvPr id="17" name="Text 15"/>
          <p:cNvSpPr txBox="1"/>
          <p:nvPr/>
        </p:nvSpPr>
        <p:spPr>
          <a:xfrm>
            <a:off x="1463040" y="3639312"/>
            <a:ext cx="1554480" cy="7132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of U.S. adults took a group trip in the last five years [S1]</a:t>
            </a:r>
            <a:endParaRPr lang="en-US" sz="1000" dirty="0"/>
          </a:p>
        </p:txBody>
      </p:sp>
      <p:sp>
        <p:nvSpPr>
          <p:cNvPr id="18" name="Shape 16"/>
          <p:cNvSpPr/>
          <p:nvPr/>
        </p:nvSpPr>
        <p:spPr>
          <a:xfrm>
            <a:off x="3246120" y="3611880"/>
            <a:ext cx="2651760" cy="77724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3383280" y="3639312"/>
            <a:ext cx="868680" cy="713232"/>
          </a:xfrm>
          <a:prstGeom prst="rect">
            <a:avLst/>
          </a:prstGeom>
          <a:noFill/>
          <a:ln/>
        </p:spPr>
        <p:txBody>
          <a:bodyPr wrap="square" lIns="0" tIns="0" rIns="0" bIns="0" rtlCol="0" anchor="ctr"/>
          <a:lstStyle/>
          <a:p>
            <a:pPr indent="0" marL="0">
              <a:buNone/>
            </a:pPr>
            <a:r>
              <a:rPr lang="en-US" sz="2800" b="1" dirty="0">
                <a:solidFill>
                  <a:srgbClr val="F59E5B"/>
                </a:solidFill>
                <a:latin typeface="Cambria" pitchFamily="34" charset="0"/>
                <a:ea typeface="Cambria" pitchFamily="34" charset="-122"/>
                <a:cs typeface="Cambria" pitchFamily="34" charset="-120"/>
              </a:rPr>
              <a:t>45%</a:t>
            </a:r>
            <a:endParaRPr lang="en-US" sz="2800" dirty="0"/>
          </a:p>
        </p:txBody>
      </p:sp>
      <p:sp>
        <p:nvSpPr>
          <p:cNvPr id="20" name="Text 18"/>
          <p:cNvSpPr txBox="1"/>
          <p:nvPr/>
        </p:nvSpPr>
        <p:spPr>
          <a:xfrm>
            <a:off x="4251960" y="3639312"/>
            <a:ext cx="1554480" cy="7132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of group travelers report financial conflict or discomfort [S1]</a:t>
            </a:r>
            <a:endParaRPr lang="en-US" sz="1000" dirty="0"/>
          </a:p>
        </p:txBody>
      </p:sp>
      <p:sp>
        <p:nvSpPr>
          <p:cNvPr id="21" name="Shape 19"/>
          <p:cNvSpPr/>
          <p:nvPr/>
        </p:nvSpPr>
        <p:spPr>
          <a:xfrm>
            <a:off x="6035040" y="3611880"/>
            <a:ext cx="2651760" cy="77724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6172200" y="3639312"/>
            <a:ext cx="868680" cy="713232"/>
          </a:xfrm>
          <a:prstGeom prst="rect">
            <a:avLst/>
          </a:prstGeom>
          <a:noFill/>
          <a:ln/>
        </p:spPr>
        <p:txBody>
          <a:bodyPr wrap="square" lIns="0" tIns="0" rIns="0" bIns="0" rtlCol="0" anchor="ctr"/>
          <a:lstStyle/>
          <a:p>
            <a:pPr indent="0" marL="0">
              <a:buNone/>
            </a:pPr>
            <a:r>
              <a:rPr lang="en-US" sz="2800" b="1" dirty="0">
                <a:solidFill>
                  <a:srgbClr val="F59E5B"/>
                </a:solidFill>
                <a:latin typeface="Cambria" pitchFamily="34" charset="0"/>
                <a:ea typeface="Cambria" pitchFamily="34" charset="-122"/>
                <a:cs typeface="Cambria" pitchFamily="34" charset="-120"/>
              </a:rPr>
              <a:t>3x</a:t>
            </a:r>
            <a:endParaRPr lang="en-US" sz="2800" dirty="0"/>
          </a:p>
        </p:txBody>
      </p:sp>
      <p:sp>
        <p:nvSpPr>
          <p:cNvPr id="23" name="Text 21"/>
          <p:cNvSpPr txBox="1"/>
          <p:nvPr/>
        </p:nvSpPr>
        <p:spPr>
          <a:xfrm>
            <a:off x="7040880" y="3639312"/>
            <a:ext cx="1554480" cy="7132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industry-average repeat booking on Roamly [Brief]</a:t>
            </a:r>
            <a:endParaRPr lang="en-US" sz="1000" dirty="0"/>
          </a:p>
        </p:txBody>
      </p:sp>
      <p:sp>
        <p:nvSpPr>
          <p:cNvPr id="24" name="Text 22"/>
          <p:cNvSpPr txBox="1"/>
          <p:nvPr/>
        </p:nvSpPr>
        <p:spPr>
          <a:xfrm>
            <a:off x="457200" y="4462272"/>
            <a:ext cx="8229600" cy="274320"/>
          </a:xfrm>
          <a:prstGeom prst="rect">
            <a:avLst/>
          </a:prstGeom>
          <a:noFill/>
          <a:ln/>
        </p:spPr>
        <p:txBody>
          <a:bodyPr wrap="square" lIns="0" tIns="0" rIns="0" bIns="0" rtlCol="0" anchor="t"/>
          <a:lstStyle/>
          <a:p>
            <a:pPr indent="0" marL="0">
              <a:buNone/>
            </a:pPr>
            <a:r>
              <a:rPr lang="en-US" sz="1000" b="1" dirty="0">
                <a:solidFill>
                  <a:srgbClr val="0F1E33"/>
                </a:solidFill>
                <a:latin typeface="Calibri" pitchFamily="34" charset="0"/>
                <a:ea typeface="Calibri" pitchFamily="34" charset="-122"/>
                <a:cs typeface="Calibri" pitchFamily="34" charset="-120"/>
              </a:rPr>
              <a:t>North-star: fully paid group bookings per month.  Riskiest assumption: invitees join from a link and pay fast (tested in the closed beta).</a:t>
            </a:r>
            <a:endParaRPr lang="en-US" sz="1000" dirty="0"/>
          </a:p>
        </p:txBody>
      </p:sp>
      <p:sp>
        <p:nvSpPr>
          <p:cNvPr id="25" name="Text 23"/>
          <p:cNvSpPr txBox="1"/>
          <p:nvPr/>
        </p:nvSpPr>
        <p:spPr>
          <a:xfrm>
            <a:off x="457200" y="4773168"/>
            <a:ext cx="7863840" cy="274320"/>
          </a:xfrm>
          <a:prstGeom prst="rect">
            <a:avLst/>
          </a:prstGeom>
          <a:noFill/>
          <a:ln/>
        </p:spPr>
        <p:txBody>
          <a:bodyPr wrap="square" lIns="0" tIns="0" rIns="0" bIns="0" rtlCol="0" anchor="t"/>
          <a:lstStyle/>
          <a:p>
            <a:pPr indent="0" marL="0">
              <a:buNone/>
            </a:pPr>
            <a:r>
              <a:rPr lang="en-US" sz="850" dirty="0">
                <a:solidFill>
                  <a:srgbClr val="5B6B7C"/>
                </a:solidFill>
                <a:latin typeface="Calibri" pitchFamily="34" charset="0"/>
                <a:ea typeface="Calibri" pitchFamily="34" charset="-122"/>
                <a:cs typeface="Calibri" pitchFamily="34" charset="-120"/>
              </a:rPr>
              <a:t>Sources: [S1] CIT Bank / Harris Poll, May 2026 (n = 2,067); [Brief] project brief.</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3B82F6"/>
                </a:solidFill>
                <a:latin typeface="Calibri" pitchFamily="34" charset="0"/>
                <a:ea typeface="Calibri" pitchFamily="34" charset="-122"/>
                <a:cs typeface="Calibri" pitchFamily="34" charset="-120"/>
              </a:rPr>
              <a:t>02 · COMPETITIVE INTEL AND STRATEGIC BET</a:t>
            </a:r>
            <a:endParaRPr lang="en-US" sz="1050" dirty="0"/>
          </a:p>
        </p:txBody>
      </p:sp>
      <p:sp>
        <p:nvSpPr>
          <p:cNvPr id="3" name="Text 1"/>
          <p:cNvSpPr txBox="1"/>
          <p:nvPr/>
        </p:nvSpPr>
        <p:spPr>
          <a:xfrm>
            <a:off x="457200" y="502920"/>
            <a:ext cx="8229600" cy="502920"/>
          </a:xfrm>
          <a:prstGeom prst="rect">
            <a:avLst/>
          </a:prstGeom>
          <a:noFill/>
          <a:ln/>
        </p:spPr>
        <p:txBody>
          <a:bodyPr wrap="square" lIns="0" tIns="0" rIns="0" bIns="0" rtlCol="0" anchor="t"/>
          <a:lstStyle/>
          <a:p>
            <a:pPr indent="0" marL="0">
              <a:buNone/>
            </a:pPr>
            <a:r>
              <a:rPr lang="en-US" sz="2400" b="1" dirty="0">
                <a:solidFill>
                  <a:srgbClr val="07162C"/>
                </a:solidFill>
                <a:latin typeface="Cambria" pitchFamily="34" charset="0"/>
                <a:ea typeface="Cambria" pitchFamily="34" charset="-122"/>
                <a:cs typeface="Cambria" pitchFamily="34" charset="-120"/>
              </a:rPr>
              <a:t>The real competitor is the group chat</a:t>
            </a:r>
            <a:endParaRPr lang="en-US" sz="2400" dirty="0"/>
          </a:p>
        </p:txBody>
      </p:sp>
      <p:sp>
        <p:nvSpPr>
          <p:cNvPr id="4" name="Text 2"/>
          <p:cNvSpPr txBox="1"/>
          <p:nvPr/>
        </p:nvSpPr>
        <p:spPr>
          <a:xfrm>
            <a:off x="8412480" y="4828032"/>
            <a:ext cx="274320" cy="18288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457200" y="1097280"/>
            <a:ext cx="5120640" cy="35204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4937760" cy="914400"/>
        </p:xfrm>
        <a:graphic>
          <a:graphicData uri="http://schemas.openxmlformats.org/drawingml/2006/table">
            <a:tbl>
              <a:tblPr/>
              <a:tblGrid>
                <a:gridCol w="1325880"/>
                <a:gridCol w="1417320"/>
                <a:gridCol w="21945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Competitor</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07162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They win on</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07162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Their weakness for this ICP</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07162C"/>
                    </a:solidFill>
                  </a:tcPr>
                </a:tc>
              </a:tr>
              <a:tr h="0">
                <a:tc>
                  <a:txBody>
                    <a:bodyPr/>
                    <a:lstStyle/>
                    <a:p>
                      <a:pPr indent="0" marL="0">
                        <a:buNone/>
                      </a:pPr>
                      <a:r>
                        <a:rPr lang="en-US" sz="1150" b="1" dirty="0">
                          <a:solidFill>
                            <a:srgbClr val="0F1E33"/>
                          </a:solidFill>
                          <a:latin typeface="Calibri" pitchFamily="34" charset="0"/>
                          <a:ea typeface="Calibri" pitchFamily="34" charset="-122"/>
                          <a:cs typeface="Calibri" pitchFamily="34" charset="-120"/>
                        </a:rPr>
                        <a:t>DIY stack (primary)</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0F1E33"/>
                          </a:solidFill>
                          <a:latin typeface="Calibri" pitchFamily="34" charset="0"/>
                          <a:ea typeface="Calibri" pitchFamily="34" charset="-122"/>
                          <a:cs typeface="Calibri" pitchFamily="34" charset="-120"/>
                        </a:rPr>
                        <a:t>Free, familiar, no sign-up</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0F1E33"/>
                          </a:solidFill>
                          <a:latin typeface="Calibri" pitchFamily="34" charset="0"/>
                          <a:ea typeface="Calibri" pitchFamily="34" charset="-122"/>
                          <a:cs typeface="Calibri" pitchFamily="34" charset="-120"/>
                        </a:rPr>
                        <a:t>Books nothing; organizer fronts and chases</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150" b="1" dirty="0">
                          <a:solidFill>
                            <a:srgbClr val="0F1E33"/>
                          </a:solidFill>
                          <a:latin typeface="Calibri" pitchFamily="34" charset="0"/>
                          <a:ea typeface="Calibri" pitchFamily="34" charset="-122"/>
                          <a:cs typeface="Calibri" pitchFamily="34" charset="-120"/>
                        </a:rPr>
                        <a:t>Viator / GetYourGuide</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4F7FB"/>
                    </a:solidFill>
                  </a:tcPr>
                </a:tc>
                <a:tc>
                  <a:txBody>
                    <a:bodyPr/>
                    <a:lstStyle/>
                    <a:p>
                      <a:pPr indent="0" marL="0">
                        <a:buNone/>
                      </a:pPr>
                      <a:r>
                        <a:rPr lang="en-US" sz="1150" dirty="0">
                          <a:solidFill>
                            <a:srgbClr val="0F1E33"/>
                          </a:solidFill>
                          <a:latin typeface="Calibri" pitchFamily="34" charset="0"/>
                          <a:ea typeface="Calibri" pitchFamily="34" charset="-122"/>
                          <a:cs typeface="Calibri" pitchFamily="34" charset="-120"/>
                        </a:rPr>
                        <a:t>Catalog, free cancellation</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4F7FB"/>
                    </a:solidFill>
                  </a:tcPr>
                </a:tc>
                <a:tc>
                  <a:txBody>
                    <a:bodyPr/>
                    <a:lstStyle/>
                    <a:p>
                      <a:pPr indent="0" marL="0">
                        <a:buNone/>
                      </a:pPr>
                      <a:r>
                        <a:rPr lang="en-US" sz="1150" dirty="0">
                          <a:solidFill>
                            <a:srgbClr val="0F1E33"/>
                          </a:solidFill>
                          <a:latin typeface="Calibri" pitchFamily="34" charset="0"/>
                          <a:ea typeface="Calibri" pitchFamily="34" charset="-122"/>
                          <a:cs typeface="Calibri" pitchFamily="34" charset="-120"/>
                        </a:rPr>
                        <a:t>Fixed-departure tours; no split payment described</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4F7FB"/>
                    </a:solidFill>
                  </a:tcPr>
                </a:tc>
              </a:tr>
              <a:tr h="0">
                <a:tc>
                  <a:txBody>
                    <a:bodyPr/>
                    <a:lstStyle/>
                    <a:p>
                      <a:pPr indent="0" marL="0">
                        <a:buNone/>
                      </a:pPr>
                      <a:r>
                        <a:rPr lang="en-US" sz="1150" b="1" dirty="0">
                          <a:solidFill>
                            <a:srgbClr val="0F1E33"/>
                          </a:solidFill>
                          <a:latin typeface="Calibri" pitchFamily="34" charset="0"/>
                          <a:ea typeface="Calibri" pitchFamily="34" charset="-122"/>
                          <a:cs typeface="Calibri" pitchFamily="34" charset="-120"/>
                        </a:rPr>
                        <a:t>Planning and payment apps</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0F1E33"/>
                          </a:solidFill>
                          <a:latin typeface="Calibri" pitchFamily="34" charset="0"/>
                          <a:ea typeface="Calibri" pitchFamily="34" charset="-122"/>
                          <a:cs typeface="Calibri" pitchFamily="34" charset="-120"/>
                        </a:rPr>
                        <a:t>Each does one slice well</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0F1E33"/>
                          </a:solidFill>
                          <a:latin typeface="Calibri" pitchFamily="34" charset="0"/>
                          <a:ea typeface="Calibri" pitchFamily="34" charset="-122"/>
                          <a:cs typeface="Calibri" pitchFamily="34" charset="-120"/>
                        </a:rPr>
                        <a:t>None combines booking, payment and plan</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150" b="1" dirty="0">
                          <a:solidFill>
                            <a:srgbClr val="0F1E33"/>
                          </a:solidFill>
                          <a:latin typeface="Calibri" pitchFamily="34" charset="0"/>
                          <a:ea typeface="Calibri" pitchFamily="34" charset="-122"/>
                          <a:cs typeface="Calibri" pitchFamily="34" charset="-120"/>
                        </a:rPr>
                        <a:t>Airbnb Experiences</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4F7FB"/>
                    </a:solidFill>
                  </a:tcPr>
                </a:tc>
                <a:tc>
                  <a:txBody>
                    <a:bodyPr/>
                    <a:lstStyle/>
                    <a:p>
                      <a:pPr indent="0" marL="0">
                        <a:buNone/>
                      </a:pPr>
                      <a:r>
                        <a:rPr lang="en-US" sz="1150" dirty="0">
                          <a:solidFill>
                            <a:srgbClr val="0F1E33"/>
                          </a:solidFill>
                          <a:latin typeface="Calibri" pitchFamily="34" charset="0"/>
                          <a:ea typeface="Calibri" pitchFamily="34" charset="-122"/>
                          <a:cs typeface="Calibri" pitchFamily="34" charset="-120"/>
                        </a:rPr>
                        <a:t>Brand and scale</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4F7FB"/>
                    </a:solidFill>
                  </a:tcPr>
                </a:tc>
                <a:tc>
                  <a:txBody>
                    <a:bodyPr/>
                    <a:lstStyle/>
                    <a:p>
                      <a:pPr indent="0" marL="0">
                        <a:buNone/>
                      </a:pPr>
                      <a:r>
                        <a:rPr lang="en-US" sz="1150" dirty="0">
                          <a:solidFill>
                            <a:srgbClr val="0F1E33"/>
                          </a:solidFill>
                          <a:latin typeface="Calibri" pitchFamily="34" charset="0"/>
                          <a:ea typeface="Calibri" pitchFamily="34" charset="-122"/>
                          <a:cs typeface="Calibri" pitchFamily="34" charset="-120"/>
                        </a:rPr>
                        <a:t>Private groups depend on host opt-in; no payment split described</a:t>
                      </a:r>
                      <a:endParaRPr lang="en-US" sz="1150" dirty="0">
                        <a:latin typeface="Calibri" charset="0"/>
                        <a:ea typeface="Calibri" charset="0"/>
                        <a:cs typeface="Calibri" charset="0"/>
                      </a:endParaRPr>
                    </a:p>
                  </a:txBody>
                  <a:tcPr marL="73152" marR="73152" marT="91440" marB="91440" anchor="ctr">
                    <a:lnL w="0" cap="flat" cmpd="sng" algn="ctr">
                      <a:noFill/>
                    </a:lnL>
                    <a:lnR w="0" cap="flat" cmpd="sng" algn="ctr">
                      <a:noFill/>
                    </a:lnR>
                    <a:lnT w="0" cap="flat" cmpd="sng" algn="ctr">
                      <a:noFill/>
                    </a:lnT>
                    <a:lnB w="0" cap="flat" cmpd="sng" algn="ctr">
                      <a:noFill/>
                    </a:lnB>
                    <a:solidFill>
                      <a:srgbClr val="F4F7FB"/>
                    </a:solidFill>
                  </a:tcPr>
                </a:tc>
              </a:tr>
            </a:tbl>
          </a:graphicData>
        </a:graphic>
      </p:graphicFrame>
      <p:sp>
        <p:nvSpPr>
          <p:cNvPr id="7" name="Text 4"/>
          <p:cNvSpPr txBox="1"/>
          <p:nvPr/>
        </p:nvSpPr>
        <p:spPr>
          <a:xfrm>
            <a:off x="640080" y="3840480"/>
            <a:ext cx="4754880" cy="685800"/>
          </a:xfrm>
          <a:prstGeom prst="rect">
            <a:avLst/>
          </a:prstGeom>
          <a:noFill/>
          <a:ln/>
        </p:spPr>
        <p:txBody>
          <a:bodyPr wrap="square" lIns="0" tIns="0" rIns="0" bIns="0" rtlCol="0" anchor="t"/>
          <a:lstStyle/>
          <a:p>
            <a:pPr indent="0" marL="0">
              <a:buNone/>
            </a:pPr>
            <a:r>
              <a:rPr lang="en-US" sz="1150" i="1" dirty="0">
                <a:solidFill>
                  <a:srgbClr val="5B6B7C"/>
                </a:solidFill>
                <a:latin typeface="Calibri" pitchFamily="34" charset="0"/>
                <a:ea typeface="Calibri" pitchFamily="34" charset="-122"/>
                <a:cs typeface="Calibri" pitchFamily="34" charset="-120"/>
              </a:rPr>
              <a:t>Why they win: for close friends, “I’ll just Venmo you” costs nothing. Invitees must trust a platform they may not know.</a:t>
            </a:r>
            <a:endParaRPr lang="en-US" sz="1150" dirty="0"/>
          </a:p>
        </p:txBody>
      </p:sp>
      <p:sp>
        <p:nvSpPr>
          <p:cNvPr id="8" name="Shape 5"/>
          <p:cNvSpPr/>
          <p:nvPr/>
        </p:nvSpPr>
        <p:spPr>
          <a:xfrm>
            <a:off x="5760720" y="1097280"/>
            <a:ext cx="2926080" cy="352044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5943600" y="1234440"/>
            <a:ext cx="2560320" cy="256032"/>
          </a:xfrm>
          <a:prstGeom prst="rect">
            <a:avLst/>
          </a:prstGeom>
          <a:noFill/>
          <a:ln/>
        </p:spPr>
        <p:txBody>
          <a:bodyPr wrap="square" lIns="0" tIns="0" rIns="0" bIns="0" rtlCol="0" anchor="ctr"/>
          <a:lstStyle/>
          <a:p>
            <a:pPr indent="0" marL="0">
              <a:buNone/>
            </a:pPr>
            <a:r>
              <a:rPr lang="en-US" sz="1100" b="1" spc="150" kern="0" dirty="0">
                <a:solidFill>
                  <a:srgbClr val="F59E5B"/>
                </a:solidFill>
                <a:latin typeface="Calibri" pitchFamily="34" charset="0"/>
                <a:ea typeface="Calibri" pitchFamily="34" charset="-122"/>
                <a:cs typeface="Calibri" pitchFamily="34" charset="-120"/>
              </a:rPr>
              <a:t>THE STRATEGIC BET</a:t>
            </a:r>
            <a:endParaRPr lang="en-US" sz="1100" dirty="0"/>
          </a:p>
        </p:txBody>
      </p:sp>
      <p:sp>
        <p:nvSpPr>
          <p:cNvPr id="10" name="Text 7"/>
          <p:cNvSpPr txBox="1"/>
          <p:nvPr/>
        </p:nvSpPr>
        <p:spPr>
          <a:xfrm>
            <a:off x="5943600" y="1554480"/>
            <a:ext cx="2560320" cy="1508760"/>
          </a:xfrm>
          <a:prstGeom prst="rect">
            <a:avLst/>
          </a:prstGeom>
          <a:noFill/>
          <a:ln/>
        </p:spPr>
        <p:txBody>
          <a:bodyPr wrap="square" lIns="0" tIns="0" rIns="0" bIns="0" rtlCol="0" anchor="t"/>
          <a:lstStyle/>
          <a:p>
            <a:pPr indent="0" marL="0">
              <a:buNone/>
            </a:pPr>
            <a:r>
              <a:rPr lang="en-US" sz="1300" dirty="0">
                <a:solidFill>
                  <a:srgbClr val="FFFFFF"/>
                </a:solidFill>
                <a:latin typeface="Cambria" pitchFamily="34" charset="0"/>
                <a:ea typeface="Cambria" pitchFamily="34" charset="-122"/>
                <a:cs typeface="Cambria" pitchFamily="34" charset="-120"/>
              </a:rPr>
              <a:t>We are betting that Roamly Groups wins by making the organizer’s job disappear, because the organizer’s burden is the problem every alternative leaves in place, and invitees create a product-led loop.</a:t>
            </a:r>
            <a:endParaRPr lang="en-US" sz="1300" dirty="0"/>
          </a:p>
        </p:txBody>
      </p:sp>
      <p:sp>
        <p:nvSpPr>
          <p:cNvPr id="11" name="Text 8"/>
          <p:cNvSpPr txBox="1"/>
          <p:nvPr/>
        </p:nvSpPr>
        <p:spPr>
          <a:xfrm>
            <a:off x="5943600" y="3108960"/>
            <a:ext cx="2560320" cy="1417320"/>
          </a:xfrm>
          <a:prstGeom prst="rect">
            <a:avLst/>
          </a:prstGeom>
          <a:noFill/>
          <a:ln/>
        </p:spPr>
        <p:txBody>
          <a:bodyPr wrap="square" lIns="0" tIns="0" rIns="0" bIns="0" rtlCol="0" anchor="t"/>
          <a:lstStyle/>
          <a:p>
            <a:pPr indent="0" marL="0">
              <a:spcAft>
                <a:spcPts val="500"/>
              </a:spcAft>
              <a:buNone/>
            </a:pPr>
            <a:r>
              <a:rPr lang="en-US" sz="1100" dirty="0">
                <a:solidFill>
                  <a:srgbClr val="DCE6F5"/>
                </a:solidFill>
                <a:latin typeface="Calibri" pitchFamily="34" charset="0"/>
                <a:ea typeface="Calibri" pitchFamily="34" charset="-122"/>
                <a:cs typeface="Calibri" pitchFamily="34" charset="-120"/>
              </a:rPr>
              <a:t>Not doing: corporate features, paid acquisition, changes to individual booking</a:t>
            </a:r>
            <a:endParaRPr lang="en-US" sz="1100" dirty="0"/>
          </a:p>
          <a:p>
            <a:pPr indent="0" marL="0">
              <a:spcAft>
                <a:spcPts val="500"/>
              </a:spcAft>
              <a:buNone/>
            </a:pPr>
            <a:r>
              <a:rPr lang="en-US" sz="1100" dirty="0">
                <a:solidFill>
                  <a:srgbClr val="DCE6F5"/>
                </a:solidFill>
                <a:latin typeface="Calibri" pitchFamily="34" charset="0"/>
                <a:ea typeface="Calibri" pitchFamily="34" charset="-122"/>
                <a:cs typeface="Calibri" pitchFamily="34" charset="-120"/>
              </a:rPr>
              <a:t>90-day proof (proposed): 70%+ of invitees pay within 72 hours; 2+ new accounts per group; individual booking conversion within ±2%.</a:t>
            </a:r>
            <a:endParaRPr lang="en-US" sz="1100" dirty="0"/>
          </a:p>
        </p:txBody>
      </p:sp>
      <p:sp>
        <p:nvSpPr>
          <p:cNvPr id="12" name="Text 9"/>
          <p:cNvSpPr txBox="1"/>
          <p:nvPr/>
        </p:nvSpPr>
        <p:spPr>
          <a:xfrm>
            <a:off x="457200" y="4773168"/>
            <a:ext cx="7863840" cy="274320"/>
          </a:xfrm>
          <a:prstGeom prst="rect">
            <a:avLst/>
          </a:prstGeom>
          <a:noFill/>
          <a:ln/>
        </p:spPr>
        <p:txBody>
          <a:bodyPr wrap="square" lIns="0" tIns="0" rIns="0" bIns="0" rtlCol="0" anchor="t"/>
          <a:lstStyle/>
          <a:p>
            <a:pPr indent="0" marL="0">
              <a:buNone/>
            </a:pPr>
            <a:r>
              <a:rPr lang="en-US" sz="850" dirty="0">
                <a:solidFill>
                  <a:srgbClr val="5B6B7C"/>
                </a:solidFill>
                <a:latin typeface="Calibri" pitchFamily="34" charset="0"/>
                <a:ea typeface="Calibri" pitchFamily="34" charset="-122"/>
                <a:cs typeface="Calibri" pitchFamily="34" charset="-120"/>
              </a:rPr>
              <a:t>Sources: [S2] findingtheuniverse.com; [S3] Airbnb Help Center; [S4] weplanify.com; [S5] squadtrip.com (vendor-published). Competitor flows assessed from public pages, not hands-on tests.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3B82F6"/>
                </a:solidFill>
                <a:latin typeface="Calibri" pitchFamily="34" charset="0"/>
                <a:ea typeface="Calibri" pitchFamily="34" charset="-122"/>
                <a:cs typeface="Calibri" pitchFamily="34" charset="-120"/>
              </a:rPr>
              <a:t>03 · POSITIONING</a:t>
            </a:r>
            <a:endParaRPr lang="en-US" sz="1050" dirty="0"/>
          </a:p>
        </p:txBody>
      </p:sp>
      <p:sp>
        <p:nvSpPr>
          <p:cNvPr id="3" name="Text 1"/>
          <p:cNvSpPr txBox="1"/>
          <p:nvPr/>
        </p:nvSpPr>
        <p:spPr>
          <a:xfrm>
            <a:off x="457200" y="502920"/>
            <a:ext cx="8229600" cy="502920"/>
          </a:xfrm>
          <a:prstGeom prst="rect">
            <a:avLst/>
          </a:prstGeom>
          <a:noFill/>
          <a:ln/>
        </p:spPr>
        <p:txBody>
          <a:bodyPr wrap="square" lIns="0" tIns="0" rIns="0" bIns="0" rtlCol="0" anchor="t"/>
          <a:lstStyle/>
          <a:p>
            <a:pPr indent="0" marL="0">
              <a:buNone/>
            </a:pPr>
            <a:r>
              <a:rPr lang="en-US" sz="2400" b="1" dirty="0">
                <a:solidFill>
                  <a:srgbClr val="07162C"/>
                </a:solidFill>
                <a:latin typeface="Cambria" pitchFamily="34" charset="0"/>
                <a:ea typeface="Cambria" pitchFamily="34" charset="-122"/>
                <a:cs typeface="Cambria" pitchFamily="34" charset="-120"/>
              </a:rPr>
              <a:t>One link. Everyone pays their own share.</a:t>
            </a:r>
            <a:endParaRPr lang="en-US" sz="2400" dirty="0"/>
          </a:p>
        </p:txBody>
      </p:sp>
      <p:sp>
        <p:nvSpPr>
          <p:cNvPr id="4" name="Text 2"/>
          <p:cNvSpPr txBox="1"/>
          <p:nvPr/>
        </p:nvSpPr>
        <p:spPr>
          <a:xfrm>
            <a:off x="8412480" y="4828032"/>
            <a:ext cx="274320" cy="18288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457200" y="1097280"/>
            <a:ext cx="8229600" cy="114300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640080" y="1161288"/>
            <a:ext cx="7863840" cy="1024128"/>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For the friend who ends up organizing everyone’s group trip, Roamly Groups is the group booking tool for curated local experiences that gets everyone in and paid with a single link. Unlike a group chat, a payments app and a spreadsheet stitched together, it handles booking, payment and the shared plan in one place, with vetted local hosts.</a:t>
            </a:r>
            <a:endParaRPr lang="en-US" sz="1300" dirty="0"/>
          </a:p>
        </p:txBody>
      </p:sp>
      <p:sp>
        <p:nvSpPr>
          <p:cNvPr id="7" name="Shape 5"/>
          <p:cNvSpPr/>
          <p:nvPr/>
        </p:nvSpPr>
        <p:spPr>
          <a:xfrm>
            <a:off x="457200" y="2423160"/>
            <a:ext cx="2651760" cy="9144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594360" y="2496312"/>
            <a:ext cx="2377440" cy="201168"/>
          </a:xfrm>
          <a:prstGeom prst="rect">
            <a:avLst/>
          </a:prstGeom>
          <a:noFill/>
          <a:ln/>
        </p:spPr>
        <p:txBody>
          <a:bodyPr wrap="square" lIns="0" tIns="0" rIns="0" bIns="0" rtlCol="0" anchor="ctr"/>
          <a:lstStyle/>
          <a:p>
            <a:pPr indent="0" marL="0">
              <a:buNone/>
            </a:pPr>
            <a:r>
              <a:rPr lang="en-US" sz="950" b="1" spc="150" kern="0" dirty="0">
                <a:solidFill>
                  <a:srgbClr val="3B82F6"/>
                </a:solidFill>
                <a:latin typeface="Calibri" pitchFamily="34" charset="0"/>
                <a:ea typeface="Calibri" pitchFamily="34" charset="-122"/>
                <a:cs typeface="Calibri" pitchFamily="34" charset="-120"/>
              </a:rPr>
              <a:t>FOR</a:t>
            </a:r>
            <a:endParaRPr lang="en-US" sz="950" dirty="0"/>
          </a:p>
        </p:txBody>
      </p:sp>
      <p:sp>
        <p:nvSpPr>
          <p:cNvPr id="9" name="Text 7"/>
          <p:cNvSpPr txBox="1"/>
          <p:nvPr/>
        </p:nvSpPr>
        <p:spPr>
          <a:xfrm>
            <a:off x="594360" y="2715768"/>
            <a:ext cx="2377440" cy="566928"/>
          </a:xfrm>
          <a:prstGeom prst="rect">
            <a:avLst/>
          </a:prstGeom>
          <a:noFill/>
          <a:ln/>
        </p:spPr>
        <p:txBody>
          <a:bodyPr wrap="square" lIns="0" tIns="0" rIns="0" bIns="0" rtlCol="0" anchor="t"/>
          <a:lstStyle/>
          <a:p>
            <a:pPr indent="0" marL="0">
              <a:buNone/>
            </a:pPr>
            <a:r>
              <a:rPr lang="en-US" sz="1200" dirty="0">
                <a:solidFill>
                  <a:srgbClr val="0F1E33"/>
                </a:solidFill>
                <a:latin typeface="Calibri" pitchFamily="34" charset="0"/>
                <a:ea typeface="Calibri" pitchFamily="34" charset="-122"/>
                <a:cs typeface="Calibri" pitchFamily="34" charset="-120"/>
              </a:rPr>
              <a:t>The friend who organizes the group trip (5–12 people)</a:t>
            </a:r>
            <a:endParaRPr lang="en-US" sz="1200" dirty="0"/>
          </a:p>
        </p:txBody>
      </p:sp>
      <p:sp>
        <p:nvSpPr>
          <p:cNvPr id="10" name="Shape 8"/>
          <p:cNvSpPr/>
          <p:nvPr/>
        </p:nvSpPr>
        <p:spPr>
          <a:xfrm>
            <a:off x="3246120" y="2423160"/>
            <a:ext cx="2651760" cy="9144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3383280" y="2496312"/>
            <a:ext cx="2377440" cy="201168"/>
          </a:xfrm>
          <a:prstGeom prst="rect">
            <a:avLst/>
          </a:prstGeom>
          <a:noFill/>
          <a:ln/>
        </p:spPr>
        <p:txBody>
          <a:bodyPr wrap="square" lIns="0" tIns="0" rIns="0" bIns="0" rtlCol="0" anchor="ctr"/>
          <a:lstStyle/>
          <a:p>
            <a:pPr indent="0" marL="0">
              <a:buNone/>
            </a:pPr>
            <a:r>
              <a:rPr lang="en-US" sz="950" b="1" spc="150" kern="0" dirty="0">
                <a:solidFill>
                  <a:srgbClr val="3B82F6"/>
                </a:solidFill>
                <a:latin typeface="Calibri" pitchFamily="34" charset="0"/>
                <a:ea typeface="Calibri" pitchFamily="34" charset="-122"/>
                <a:cs typeface="Calibri" pitchFamily="34" charset="-120"/>
              </a:rPr>
              <a:t>WHO NEEDS</a:t>
            </a:r>
            <a:endParaRPr lang="en-US" sz="950" dirty="0"/>
          </a:p>
        </p:txBody>
      </p:sp>
      <p:sp>
        <p:nvSpPr>
          <p:cNvPr id="12" name="Text 10"/>
          <p:cNvSpPr txBox="1"/>
          <p:nvPr/>
        </p:nvSpPr>
        <p:spPr>
          <a:xfrm>
            <a:off x="3383280" y="2715768"/>
            <a:ext cx="2377440" cy="566928"/>
          </a:xfrm>
          <a:prstGeom prst="rect">
            <a:avLst/>
          </a:prstGeom>
          <a:noFill/>
          <a:ln/>
        </p:spPr>
        <p:txBody>
          <a:bodyPr wrap="square" lIns="0" tIns="0" rIns="0" bIns="0" rtlCol="0" anchor="t"/>
          <a:lstStyle/>
          <a:p>
            <a:pPr indent="0" marL="0">
              <a:buNone/>
            </a:pPr>
            <a:r>
              <a:rPr lang="en-US" sz="1200" dirty="0">
                <a:solidFill>
                  <a:srgbClr val="0F1E33"/>
                </a:solidFill>
                <a:latin typeface="Calibri" pitchFamily="34" charset="0"/>
                <a:ea typeface="Calibri" pitchFamily="34" charset="-122"/>
                <a:cs typeface="Calibri" pitchFamily="34" charset="-120"/>
              </a:rPr>
              <a:t>Everyone booked and paid without fronting money or chasing replies</a:t>
            </a:r>
            <a:endParaRPr lang="en-US" sz="1200" dirty="0"/>
          </a:p>
        </p:txBody>
      </p:sp>
      <p:sp>
        <p:nvSpPr>
          <p:cNvPr id="13" name="Shape 11"/>
          <p:cNvSpPr/>
          <p:nvPr/>
        </p:nvSpPr>
        <p:spPr>
          <a:xfrm>
            <a:off x="6035040" y="2423160"/>
            <a:ext cx="2651760" cy="9144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172200" y="2496312"/>
            <a:ext cx="2377440" cy="201168"/>
          </a:xfrm>
          <a:prstGeom prst="rect">
            <a:avLst/>
          </a:prstGeom>
          <a:noFill/>
          <a:ln/>
        </p:spPr>
        <p:txBody>
          <a:bodyPr wrap="square" lIns="0" tIns="0" rIns="0" bIns="0" rtlCol="0" anchor="ctr"/>
          <a:lstStyle/>
          <a:p>
            <a:pPr indent="0" marL="0">
              <a:buNone/>
            </a:pPr>
            <a:r>
              <a:rPr lang="en-US" sz="950" b="1" spc="150" kern="0" dirty="0">
                <a:solidFill>
                  <a:srgbClr val="3B82F6"/>
                </a:solidFill>
                <a:latin typeface="Calibri" pitchFamily="34" charset="0"/>
                <a:ea typeface="Calibri" pitchFamily="34" charset="-122"/>
                <a:cs typeface="Calibri" pitchFamily="34" charset="-120"/>
              </a:rPr>
              <a:t>WE OFFER</a:t>
            </a:r>
            <a:endParaRPr lang="en-US" sz="950" dirty="0"/>
          </a:p>
        </p:txBody>
      </p:sp>
      <p:sp>
        <p:nvSpPr>
          <p:cNvPr id="15" name="Text 13"/>
          <p:cNvSpPr txBox="1"/>
          <p:nvPr/>
        </p:nvSpPr>
        <p:spPr>
          <a:xfrm>
            <a:off x="6172200" y="2715768"/>
            <a:ext cx="2377440" cy="566928"/>
          </a:xfrm>
          <a:prstGeom prst="rect">
            <a:avLst/>
          </a:prstGeom>
          <a:noFill/>
          <a:ln/>
        </p:spPr>
        <p:txBody>
          <a:bodyPr wrap="square" lIns="0" tIns="0" rIns="0" bIns="0" rtlCol="0" anchor="t"/>
          <a:lstStyle/>
          <a:p>
            <a:pPr indent="0" marL="0">
              <a:buNone/>
            </a:pPr>
            <a:r>
              <a:rPr lang="en-US" sz="1200" dirty="0">
                <a:solidFill>
                  <a:srgbClr val="0F1E33"/>
                </a:solidFill>
                <a:latin typeface="Calibri" pitchFamily="34" charset="0"/>
                <a:ea typeface="Calibri" pitchFamily="34" charset="-122"/>
                <a:cs typeface="Calibri" pitchFamily="34" charset="-120"/>
              </a:rPr>
              <a:t>Group booking for curated local experiences</a:t>
            </a:r>
            <a:endParaRPr lang="en-US" sz="1200" dirty="0"/>
          </a:p>
        </p:txBody>
      </p:sp>
      <p:sp>
        <p:nvSpPr>
          <p:cNvPr id="16" name="Shape 14"/>
          <p:cNvSpPr/>
          <p:nvPr/>
        </p:nvSpPr>
        <p:spPr>
          <a:xfrm>
            <a:off x="457200" y="3429000"/>
            <a:ext cx="2651760" cy="9144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594360" y="3502152"/>
            <a:ext cx="2377440" cy="201168"/>
          </a:xfrm>
          <a:prstGeom prst="rect">
            <a:avLst/>
          </a:prstGeom>
          <a:noFill/>
          <a:ln/>
        </p:spPr>
        <p:txBody>
          <a:bodyPr wrap="square" lIns="0" tIns="0" rIns="0" bIns="0" rtlCol="0" anchor="ctr"/>
          <a:lstStyle/>
          <a:p>
            <a:pPr indent="0" marL="0">
              <a:buNone/>
            </a:pPr>
            <a:r>
              <a:rPr lang="en-US" sz="950" b="1" spc="150" kern="0" dirty="0">
                <a:solidFill>
                  <a:srgbClr val="3B82F6"/>
                </a:solidFill>
                <a:latin typeface="Calibri" pitchFamily="34" charset="0"/>
                <a:ea typeface="Calibri" pitchFamily="34" charset="-122"/>
                <a:cs typeface="Calibri" pitchFamily="34" charset="-120"/>
              </a:rPr>
              <a:t>BECAUSE OF</a:t>
            </a:r>
            <a:endParaRPr lang="en-US" sz="950" dirty="0"/>
          </a:p>
        </p:txBody>
      </p:sp>
      <p:sp>
        <p:nvSpPr>
          <p:cNvPr id="18" name="Text 16"/>
          <p:cNvSpPr txBox="1"/>
          <p:nvPr/>
        </p:nvSpPr>
        <p:spPr>
          <a:xfrm>
            <a:off x="594360" y="3721608"/>
            <a:ext cx="2377440" cy="566928"/>
          </a:xfrm>
          <a:prstGeom prst="rect">
            <a:avLst/>
          </a:prstGeom>
          <a:noFill/>
          <a:ln/>
        </p:spPr>
        <p:txBody>
          <a:bodyPr wrap="square" lIns="0" tIns="0" rIns="0" bIns="0" rtlCol="0" anchor="t"/>
          <a:lstStyle/>
          <a:p>
            <a:pPr indent="0" marL="0">
              <a:buNone/>
            </a:pPr>
            <a:r>
              <a:rPr lang="en-US" sz="1200" dirty="0">
                <a:solidFill>
                  <a:srgbClr val="0F1E33"/>
                </a:solidFill>
                <a:latin typeface="Calibri" pitchFamily="34" charset="0"/>
                <a:ea typeface="Calibri" pitchFamily="34" charset="-122"/>
                <a:cs typeface="Calibri" pitchFamily="34" charset="-120"/>
              </a:rPr>
              <a:t>One link; each person pays their own share</a:t>
            </a:r>
            <a:endParaRPr lang="en-US" sz="1200" dirty="0"/>
          </a:p>
        </p:txBody>
      </p:sp>
      <p:sp>
        <p:nvSpPr>
          <p:cNvPr id="19" name="Shape 17"/>
          <p:cNvSpPr/>
          <p:nvPr/>
        </p:nvSpPr>
        <p:spPr>
          <a:xfrm>
            <a:off x="3246120" y="3429000"/>
            <a:ext cx="2651760" cy="9144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3383280" y="3502152"/>
            <a:ext cx="2377440" cy="201168"/>
          </a:xfrm>
          <a:prstGeom prst="rect">
            <a:avLst/>
          </a:prstGeom>
          <a:noFill/>
          <a:ln/>
        </p:spPr>
        <p:txBody>
          <a:bodyPr wrap="square" lIns="0" tIns="0" rIns="0" bIns="0" rtlCol="0" anchor="ctr"/>
          <a:lstStyle/>
          <a:p>
            <a:pPr indent="0" marL="0">
              <a:buNone/>
            </a:pPr>
            <a:r>
              <a:rPr lang="en-US" sz="950" b="1" spc="150" kern="0" dirty="0">
                <a:solidFill>
                  <a:srgbClr val="3B82F6"/>
                </a:solidFill>
                <a:latin typeface="Calibri" pitchFamily="34" charset="0"/>
                <a:ea typeface="Calibri" pitchFamily="34" charset="-122"/>
                <a:cs typeface="Calibri" pitchFamily="34" charset="-120"/>
              </a:rPr>
              <a:t>DESPITE</a:t>
            </a:r>
            <a:endParaRPr lang="en-US" sz="950" dirty="0"/>
          </a:p>
        </p:txBody>
      </p:sp>
      <p:sp>
        <p:nvSpPr>
          <p:cNvPr id="21" name="Text 19"/>
          <p:cNvSpPr txBox="1"/>
          <p:nvPr/>
        </p:nvSpPr>
        <p:spPr>
          <a:xfrm>
            <a:off x="3383280" y="3721608"/>
            <a:ext cx="2377440" cy="566928"/>
          </a:xfrm>
          <a:prstGeom prst="rect">
            <a:avLst/>
          </a:prstGeom>
          <a:noFill/>
          <a:ln/>
        </p:spPr>
        <p:txBody>
          <a:bodyPr wrap="square" lIns="0" tIns="0" rIns="0" bIns="0" rtlCol="0" anchor="t"/>
          <a:lstStyle/>
          <a:p>
            <a:pPr indent="0" marL="0">
              <a:buNone/>
            </a:pPr>
            <a:r>
              <a:rPr lang="en-US" sz="1200" dirty="0">
                <a:solidFill>
                  <a:srgbClr val="0F1E33"/>
                </a:solidFill>
                <a:latin typeface="Calibri" pitchFamily="34" charset="0"/>
                <a:ea typeface="Calibri" pitchFamily="34" charset="-122"/>
                <a:cs typeface="Calibri" pitchFamily="34" charset="-120"/>
              </a:rPr>
              <a:t>New to groups, no track record yet; invitees must trust Roamly</a:t>
            </a:r>
            <a:endParaRPr lang="en-US" sz="1200" dirty="0"/>
          </a:p>
        </p:txBody>
      </p:sp>
      <p:sp>
        <p:nvSpPr>
          <p:cNvPr id="22" name="Shape 20"/>
          <p:cNvSpPr/>
          <p:nvPr/>
        </p:nvSpPr>
        <p:spPr>
          <a:xfrm>
            <a:off x="6035040" y="3429000"/>
            <a:ext cx="2651760" cy="9144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6172200" y="3502152"/>
            <a:ext cx="2377440" cy="201168"/>
          </a:xfrm>
          <a:prstGeom prst="rect">
            <a:avLst/>
          </a:prstGeom>
          <a:noFill/>
          <a:ln/>
        </p:spPr>
        <p:txBody>
          <a:bodyPr wrap="square" lIns="0" tIns="0" rIns="0" bIns="0" rtlCol="0" anchor="ctr"/>
          <a:lstStyle/>
          <a:p>
            <a:pPr indent="0" marL="0">
              <a:buNone/>
            </a:pPr>
            <a:r>
              <a:rPr lang="en-US" sz="950" b="1" spc="150" kern="0" dirty="0">
                <a:solidFill>
                  <a:srgbClr val="3B82F6"/>
                </a:solidFill>
                <a:latin typeface="Calibri" pitchFamily="34" charset="0"/>
                <a:ea typeface="Calibri" pitchFamily="34" charset="-122"/>
                <a:cs typeface="Calibri" pitchFamily="34" charset="-120"/>
              </a:rPr>
              <a:t>BETTER THAN</a:t>
            </a:r>
            <a:endParaRPr lang="en-US" sz="950" dirty="0"/>
          </a:p>
        </p:txBody>
      </p:sp>
      <p:sp>
        <p:nvSpPr>
          <p:cNvPr id="24" name="Text 22"/>
          <p:cNvSpPr txBox="1"/>
          <p:nvPr/>
        </p:nvSpPr>
        <p:spPr>
          <a:xfrm>
            <a:off x="6172200" y="3721608"/>
            <a:ext cx="2377440" cy="566928"/>
          </a:xfrm>
          <a:prstGeom prst="rect">
            <a:avLst/>
          </a:prstGeom>
          <a:noFill/>
          <a:ln/>
        </p:spPr>
        <p:txBody>
          <a:bodyPr wrap="square" lIns="0" tIns="0" rIns="0" bIns="0" rtlCol="0" anchor="t"/>
          <a:lstStyle/>
          <a:p>
            <a:pPr indent="0" marL="0">
              <a:buNone/>
            </a:pPr>
            <a:r>
              <a:rPr lang="en-US" sz="1200" dirty="0">
                <a:solidFill>
                  <a:srgbClr val="0F1E33"/>
                </a:solidFill>
                <a:latin typeface="Calibri" pitchFamily="34" charset="0"/>
                <a:ea typeface="Calibri" pitchFamily="34" charset="-122"/>
                <a:cs typeface="Calibri" pitchFamily="34" charset="-120"/>
              </a:rPr>
              <a:t>DIY stack and tour sites: booking, payment and plan in one flow</a:t>
            </a:r>
            <a:endParaRPr lang="en-US" sz="1200" dirty="0"/>
          </a:p>
        </p:txBody>
      </p:sp>
      <p:sp>
        <p:nvSpPr>
          <p:cNvPr id="25" name="Text 23"/>
          <p:cNvSpPr txBox="1"/>
          <p:nvPr/>
        </p:nvSpPr>
        <p:spPr>
          <a:xfrm>
            <a:off x="457200" y="4434840"/>
            <a:ext cx="8229600" cy="292608"/>
          </a:xfrm>
          <a:prstGeom prst="rect">
            <a:avLst/>
          </a:prstGeom>
          <a:noFill/>
          <a:ln/>
        </p:spPr>
        <p:txBody>
          <a:bodyPr wrap="square" lIns="0" tIns="0" rIns="0" bIns="0" rtlCol="0" anchor="t"/>
          <a:lstStyle/>
          <a:p>
            <a:pPr indent="0" marL="0">
              <a:buNone/>
            </a:pPr>
            <a:r>
              <a:rPr lang="en-US" sz="1000" b="1" dirty="0">
                <a:solidFill>
                  <a:srgbClr val="0F1E33"/>
                </a:solidFill>
                <a:latin typeface="Calibri" pitchFamily="34" charset="0"/>
                <a:ea typeface="Calibri" pitchFamily="34" charset="-122"/>
                <a:cs typeface="Calibri" pitchFamily="34" charset="-120"/>
              </a:rPr>
              <a:t>Pressure tests (desk review): Ownable — partial; Believable — conditional until beta; Relevant — pass; Durable — pass, watch for drift.</a:t>
            </a:r>
            <a:endParaRPr lang="en-US" sz="1000" dirty="0"/>
          </a:p>
        </p:txBody>
      </p:sp>
      <p:sp>
        <p:nvSpPr>
          <p:cNvPr id="26" name="Text 24"/>
          <p:cNvSpPr txBox="1"/>
          <p:nvPr/>
        </p:nvSpPr>
        <p:spPr>
          <a:xfrm>
            <a:off x="457200" y="4773168"/>
            <a:ext cx="7863840" cy="274320"/>
          </a:xfrm>
          <a:prstGeom prst="rect">
            <a:avLst/>
          </a:prstGeom>
          <a:noFill/>
          <a:ln/>
        </p:spPr>
        <p:txBody>
          <a:bodyPr wrap="square" lIns="0" tIns="0" rIns="0" bIns="0" rtlCol="0" anchor="t"/>
          <a:lstStyle/>
          <a:p>
            <a:pPr indent="0" marL="0">
              <a:buNone/>
            </a:pPr>
            <a:r>
              <a:rPr lang="en-US" sz="850" dirty="0">
                <a:solidFill>
                  <a:srgbClr val="5B6B7C"/>
                </a:solidFill>
                <a:latin typeface="Calibri" pitchFamily="34" charset="0"/>
                <a:ea typeface="Calibri" pitchFamily="34" charset="-122"/>
                <a:cs typeface="Calibri" pitchFamily="34" charset="-120"/>
              </a:rPr>
              <a:t>Proof: 12,000+ vetted hosts, 40 cities, 3x repeat booking [Brief]; 45% of group travelers report money friction [S1].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3B82F6"/>
                </a:solidFill>
                <a:latin typeface="Calibri" pitchFamily="34" charset="0"/>
                <a:ea typeface="Calibri" pitchFamily="34" charset="-122"/>
                <a:cs typeface="Calibri" pitchFamily="34" charset="-120"/>
              </a:rPr>
              <a:t>04 · MESSAGING</a:t>
            </a:r>
            <a:endParaRPr lang="en-US" sz="1050" dirty="0"/>
          </a:p>
        </p:txBody>
      </p:sp>
      <p:sp>
        <p:nvSpPr>
          <p:cNvPr id="3" name="Text 1"/>
          <p:cNvSpPr txBox="1"/>
          <p:nvPr/>
        </p:nvSpPr>
        <p:spPr>
          <a:xfrm>
            <a:off x="457200" y="502920"/>
            <a:ext cx="8229600" cy="502920"/>
          </a:xfrm>
          <a:prstGeom prst="rect">
            <a:avLst/>
          </a:prstGeom>
          <a:noFill/>
          <a:ln/>
        </p:spPr>
        <p:txBody>
          <a:bodyPr wrap="square" lIns="0" tIns="0" rIns="0" bIns="0" rtlCol="0" anchor="t"/>
          <a:lstStyle/>
          <a:p>
            <a:pPr indent="0" marL="0">
              <a:buNone/>
            </a:pPr>
            <a:r>
              <a:rPr lang="en-US" sz="2400" b="1" dirty="0">
                <a:solidFill>
                  <a:srgbClr val="07162C"/>
                </a:solidFill>
                <a:latin typeface="Cambria" pitchFamily="34" charset="0"/>
                <a:ea typeface="Cambria" pitchFamily="34" charset="-122"/>
                <a:cs typeface="Cambria" pitchFamily="34" charset="-120"/>
              </a:rPr>
              <a:t>Two people, two promises</a:t>
            </a:r>
            <a:endParaRPr lang="en-US" sz="2400" dirty="0"/>
          </a:p>
        </p:txBody>
      </p:sp>
      <p:sp>
        <p:nvSpPr>
          <p:cNvPr id="4" name="Text 2"/>
          <p:cNvSpPr txBox="1"/>
          <p:nvPr/>
        </p:nvSpPr>
        <p:spPr>
          <a:xfrm>
            <a:off x="8412480" y="4828032"/>
            <a:ext cx="274320" cy="18288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457200" y="1097280"/>
            <a:ext cx="5074920" cy="73152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594360" y="1133856"/>
            <a:ext cx="4800600" cy="658368"/>
          </a:xfrm>
          <a:prstGeom prst="rect">
            <a:avLst/>
          </a:prstGeom>
          <a:noFill/>
          <a:ln/>
        </p:spPr>
        <p:txBody>
          <a:bodyPr wrap="square" lIns="0" tIns="0" rIns="0" bIns="0" rtlCol="0" anchor="ctr"/>
          <a:lstStyle/>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FROM: one person becomes the unpaid travel agent, chasing replies and fronting the money.</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TO: one link; everyone sees the plan and their share, and pays it.</a:t>
            </a:r>
            <a:endParaRPr lang="en-US" sz="1050" dirty="0"/>
          </a:p>
        </p:txBody>
      </p:sp>
      <p:sp>
        <p:nvSpPr>
          <p:cNvPr id="7" name="Shape 5"/>
          <p:cNvSpPr/>
          <p:nvPr/>
        </p:nvSpPr>
        <p:spPr>
          <a:xfrm>
            <a:off x="457200" y="1920240"/>
            <a:ext cx="2468880" cy="26974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594360" y="1993392"/>
            <a:ext cx="2194560" cy="274320"/>
          </a:xfrm>
          <a:prstGeom prst="rect">
            <a:avLst/>
          </a:prstGeom>
          <a:noFill/>
          <a:ln/>
        </p:spPr>
        <p:txBody>
          <a:bodyPr wrap="square" lIns="0" tIns="0" rIns="0" bIns="0" rtlCol="0" anchor="ctr"/>
          <a:lstStyle/>
          <a:p>
            <a:pPr indent="0" marL="0">
              <a:buNone/>
            </a:pPr>
            <a:r>
              <a:rPr lang="en-US" sz="1500" b="1" dirty="0">
                <a:solidFill>
                  <a:srgbClr val="07162C"/>
                </a:solidFill>
                <a:latin typeface="Cambria" pitchFamily="34" charset="0"/>
                <a:ea typeface="Cambria" pitchFamily="34" charset="-122"/>
                <a:cs typeface="Cambria" pitchFamily="34" charset="-120"/>
              </a:rPr>
              <a:t>The Organizer</a:t>
            </a:r>
            <a:endParaRPr lang="en-US" sz="1500" dirty="0"/>
          </a:p>
        </p:txBody>
      </p:sp>
      <p:sp>
        <p:nvSpPr>
          <p:cNvPr id="9" name="Text 7"/>
          <p:cNvSpPr txBox="1"/>
          <p:nvPr/>
        </p:nvSpPr>
        <p:spPr>
          <a:xfrm>
            <a:off x="594360" y="2331720"/>
            <a:ext cx="2194560" cy="2240280"/>
          </a:xfrm>
          <a:prstGeom prst="rect">
            <a:avLst/>
          </a:prstGeom>
          <a:noFill/>
          <a:ln/>
        </p:spPr>
        <p:txBody>
          <a:bodyPr wrap="square" lIns="0" tIns="0" rIns="0" bIns="0" rtlCol="0" anchor="t"/>
          <a:lstStyle/>
          <a:p>
            <a:pPr indent="0" marL="0">
              <a:buNone/>
            </a:pPr>
            <a:r>
              <a:rPr lang="en-US" sz="950" b="1" dirty="0">
                <a:solidFill>
                  <a:srgbClr val="3B82F6"/>
                </a:solidFill>
                <a:latin typeface="Calibri" pitchFamily="34" charset="0"/>
                <a:ea typeface="Calibri" pitchFamily="34" charset="-122"/>
                <a:cs typeface="Calibri" pitchFamily="34" charset="-120"/>
              </a:rPr>
              <a:t>VALUE</a:t>
            </a:r>
            <a:endParaRPr lang="en-US" sz="950" dirty="0"/>
          </a:p>
          <a:p>
            <a:pPr indent="0" marL="0">
              <a:spcAft>
                <a:spcPts val="700"/>
              </a:spcAft>
              <a:buNone/>
            </a:pPr>
            <a:r>
              <a:rPr lang="en-US" sz="1100" dirty="0">
                <a:solidFill>
                  <a:srgbClr val="0F1E33"/>
                </a:solidFill>
                <a:latin typeface="Calibri" pitchFamily="34" charset="0"/>
                <a:ea typeface="Calibri" pitchFamily="34" charset="-122"/>
                <a:cs typeface="Calibri" pitchFamily="34" charset="-120"/>
              </a:rPr>
              <a:t>Plan the trip, not the paperwork. You never front the money or chase anyone.</a:t>
            </a:r>
            <a:endParaRPr lang="en-US" sz="950" dirty="0"/>
          </a:p>
          <a:p>
            <a:pPr indent="0" marL="0">
              <a:buNone/>
            </a:pPr>
            <a:r>
              <a:rPr lang="en-US" sz="950" b="1" dirty="0">
                <a:solidFill>
                  <a:srgbClr val="3B82F6"/>
                </a:solidFill>
                <a:latin typeface="Calibri" pitchFamily="34" charset="0"/>
                <a:ea typeface="Calibri" pitchFamily="34" charset="-122"/>
                <a:cs typeface="Calibri" pitchFamily="34" charset="-120"/>
              </a:rPr>
              <a:t>CAPABILITIES</a:t>
            </a:r>
            <a:endParaRPr lang="en-US" sz="950" dirty="0"/>
          </a:p>
          <a:p>
            <a:pPr indent="0" marL="0">
              <a:spcAft>
                <a:spcPts val="700"/>
              </a:spcAft>
              <a:buNone/>
            </a:pPr>
            <a:r>
              <a:rPr lang="en-US" sz="1100" dirty="0">
                <a:solidFill>
                  <a:srgbClr val="0F1E33"/>
                </a:solidFill>
                <a:latin typeface="Calibri" pitchFamily="34" charset="0"/>
                <a:ea typeface="Calibri" pitchFamily="34" charset="-122"/>
                <a:cs typeface="Calibri" pitchFamily="34" charset="-120"/>
              </a:rPr>
              <a:t>One group booking, split payments by share, shared itinerary, vetted hosts</a:t>
            </a:r>
            <a:endParaRPr lang="en-US" sz="950" dirty="0"/>
          </a:p>
          <a:p>
            <a:pPr indent="0" marL="0">
              <a:buNone/>
            </a:pPr>
            <a:r>
              <a:rPr lang="en-US" sz="950" b="1" dirty="0">
                <a:solidFill>
                  <a:srgbClr val="3B82F6"/>
                </a:solidFill>
                <a:latin typeface="Calibri" pitchFamily="34" charset="0"/>
                <a:ea typeface="Calibri" pitchFamily="34" charset="-122"/>
                <a:cs typeface="Calibri" pitchFamily="34" charset="-120"/>
              </a:rPr>
              <a:t>EVIDENCE</a:t>
            </a:r>
            <a:endParaRPr lang="en-US" sz="950" dirty="0"/>
          </a:p>
          <a:p>
            <a:pPr indent="0" marL="0">
              <a:spcAft>
                <a:spcPts val="700"/>
              </a:spcAft>
              <a:buNone/>
            </a:pPr>
            <a:r>
              <a:rPr lang="en-US" sz="1100" dirty="0">
                <a:solidFill>
                  <a:srgbClr val="0F1E33"/>
                </a:solidFill>
                <a:latin typeface="Calibri" pitchFamily="34" charset="0"/>
                <a:ea typeface="Calibri" pitchFamily="34" charset="-122"/>
                <a:cs typeface="Calibri" pitchFamily="34" charset="-120"/>
              </a:rPr>
              <a:t>12,000+ hosts, 40 cities, 3x repeat [Brief]; 45% report money friction [S1]</a:t>
            </a:r>
            <a:endParaRPr lang="en-US" sz="950" dirty="0"/>
          </a:p>
        </p:txBody>
      </p:sp>
      <p:sp>
        <p:nvSpPr>
          <p:cNvPr id="10" name="Shape 8"/>
          <p:cNvSpPr/>
          <p:nvPr/>
        </p:nvSpPr>
        <p:spPr>
          <a:xfrm>
            <a:off x="3063240" y="1920240"/>
            <a:ext cx="2468880" cy="26974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3200400" y="1993392"/>
            <a:ext cx="2194560" cy="274320"/>
          </a:xfrm>
          <a:prstGeom prst="rect">
            <a:avLst/>
          </a:prstGeom>
          <a:noFill/>
          <a:ln/>
        </p:spPr>
        <p:txBody>
          <a:bodyPr wrap="square" lIns="0" tIns="0" rIns="0" bIns="0" rtlCol="0" anchor="ctr"/>
          <a:lstStyle/>
          <a:p>
            <a:pPr indent="0" marL="0">
              <a:buNone/>
            </a:pPr>
            <a:r>
              <a:rPr lang="en-US" sz="1500" b="1" dirty="0">
                <a:solidFill>
                  <a:srgbClr val="07162C"/>
                </a:solidFill>
                <a:latin typeface="Cambria" pitchFamily="34" charset="0"/>
                <a:ea typeface="Cambria" pitchFamily="34" charset="-122"/>
                <a:cs typeface="Cambria" pitchFamily="34" charset="-120"/>
              </a:rPr>
              <a:t>The Invitee</a:t>
            </a:r>
            <a:endParaRPr lang="en-US" sz="1500" dirty="0"/>
          </a:p>
        </p:txBody>
      </p:sp>
      <p:sp>
        <p:nvSpPr>
          <p:cNvPr id="12" name="Text 10"/>
          <p:cNvSpPr txBox="1"/>
          <p:nvPr/>
        </p:nvSpPr>
        <p:spPr>
          <a:xfrm>
            <a:off x="3200400" y="2331720"/>
            <a:ext cx="2194560" cy="2240280"/>
          </a:xfrm>
          <a:prstGeom prst="rect">
            <a:avLst/>
          </a:prstGeom>
          <a:noFill/>
          <a:ln/>
        </p:spPr>
        <p:txBody>
          <a:bodyPr wrap="square" lIns="0" tIns="0" rIns="0" bIns="0" rtlCol="0" anchor="t"/>
          <a:lstStyle/>
          <a:p>
            <a:pPr indent="0" marL="0">
              <a:buNone/>
            </a:pPr>
            <a:r>
              <a:rPr lang="en-US" sz="950" b="1" dirty="0">
                <a:solidFill>
                  <a:srgbClr val="3B82F6"/>
                </a:solidFill>
                <a:latin typeface="Calibri" pitchFamily="34" charset="0"/>
                <a:ea typeface="Calibri" pitchFamily="34" charset="-122"/>
                <a:cs typeface="Calibri" pitchFamily="34" charset="-120"/>
              </a:rPr>
              <a:t>VALUE</a:t>
            </a:r>
            <a:endParaRPr lang="en-US" sz="950" dirty="0"/>
          </a:p>
          <a:p>
            <a:pPr indent="0" marL="0">
              <a:spcAft>
                <a:spcPts val="700"/>
              </a:spcAft>
              <a:buNone/>
            </a:pPr>
            <a:r>
              <a:rPr lang="en-US" sz="1100" dirty="0">
                <a:solidFill>
                  <a:srgbClr val="0F1E33"/>
                </a:solidFill>
                <a:latin typeface="Calibri" pitchFamily="34" charset="0"/>
                <a:ea typeface="Calibri" pitchFamily="34" charset="-122"/>
                <a:cs typeface="Calibri" pitchFamily="34" charset="-120"/>
              </a:rPr>
              <a:t>Join in seconds, see exactly what you pay for, pay only your share.</a:t>
            </a:r>
            <a:endParaRPr lang="en-US" sz="950" dirty="0"/>
          </a:p>
          <a:p>
            <a:pPr indent="0" marL="0">
              <a:buNone/>
            </a:pPr>
            <a:r>
              <a:rPr lang="en-US" sz="950" b="1" dirty="0">
                <a:solidFill>
                  <a:srgbClr val="3B82F6"/>
                </a:solidFill>
                <a:latin typeface="Calibri" pitchFamily="34" charset="0"/>
                <a:ea typeface="Calibri" pitchFamily="34" charset="-122"/>
                <a:cs typeface="Calibri" pitchFamily="34" charset="-120"/>
              </a:rPr>
              <a:t>CAPABILITIES</a:t>
            </a:r>
            <a:endParaRPr lang="en-US" sz="950" dirty="0"/>
          </a:p>
          <a:p>
            <a:pPr indent="0" marL="0">
              <a:spcAft>
                <a:spcPts val="700"/>
              </a:spcAft>
              <a:buNone/>
            </a:pPr>
            <a:r>
              <a:rPr lang="en-US" sz="1100" dirty="0">
                <a:solidFill>
                  <a:srgbClr val="0F1E33"/>
                </a:solidFill>
                <a:latin typeface="Calibri" pitchFamily="34" charset="0"/>
                <a:ea typeface="Calibri" pitchFamily="34" charset="-122"/>
                <a:cs typeface="Calibri" pitchFamily="34" charset="-120"/>
              </a:rPr>
              <a:t>See plan and your share first; pay your share; reminders</a:t>
            </a:r>
            <a:endParaRPr lang="en-US" sz="950" dirty="0"/>
          </a:p>
          <a:p>
            <a:pPr indent="0" marL="0">
              <a:buNone/>
            </a:pPr>
            <a:r>
              <a:rPr lang="en-US" sz="950" b="1" dirty="0">
                <a:solidFill>
                  <a:srgbClr val="3B82F6"/>
                </a:solidFill>
                <a:latin typeface="Calibri" pitchFamily="34" charset="0"/>
                <a:ea typeface="Calibri" pitchFamily="34" charset="-122"/>
                <a:cs typeface="Calibri" pitchFamily="34" charset="-120"/>
              </a:rPr>
              <a:t>EVIDENCE</a:t>
            </a:r>
            <a:endParaRPr lang="en-US" sz="950" dirty="0"/>
          </a:p>
          <a:p>
            <a:pPr indent="0" marL="0">
              <a:spcAft>
                <a:spcPts val="700"/>
              </a:spcAft>
              <a:buNone/>
            </a:pPr>
            <a:r>
              <a:rPr lang="en-US" sz="1100" dirty="0">
                <a:solidFill>
                  <a:srgbClr val="0F1E33"/>
                </a:solidFill>
                <a:latin typeface="Calibri" pitchFamily="34" charset="0"/>
                <a:ea typeface="Calibri" pitchFamily="34" charset="-122"/>
                <a:cs typeface="Calibri" pitchFamily="34" charset="-120"/>
              </a:rPr>
              <a:t>Vetted hosts [Brief]; 41% felt pressured into trips [S1]. Beta slots to fill.</a:t>
            </a:r>
            <a:endParaRPr lang="en-US" sz="950" dirty="0"/>
          </a:p>
        </p:txBody>
      </p:sp>
      <p:pic>
        <p:nvPicPr>
          <p:cNvPr id="13" name="Image 0" descr="launch-asset.png">    </p:cNvPr>
          <p:cNvPicPr>
            <a:picLocks noChangeAspect="1"/>
          </p:cNvPicPr>
          <p:nvPr/>
        </p:nvPicPr>
        <p:blipFill>
          <a:blip r:embed="rId1"/>
          <a:stretch>
            <a:fillRect/>
          </a:stretch>
        </p:blipFill>
        <p:spPr>
          <a:xfrm>
            <a:off x="5715000" y="1097280"/>
            <a:ext cx="2971800" cy="1673352"/>
          </a:xfrm>
          <a:prstGeom prst="rect">
            <a:avLst/>
          </a:prstGeom>
          <a:effectLst>
            <a:outerShdw sx="100000" sy="100000" kx="0" ky="0" algn="bl" rotWithShape="0" blurRad="76200" dist="25400" dir="5400000">
              <a:srgbClr val="000000">
                <a:alpha val="12000"/>
              </a:srgbClr>
            </a:outerShdw>
          </a:effectLst>
        </p:spPr>
      </p:pic>
      <p:sp>
        <p:nvSpPr>
          <p:cNvPr id="14" name="Text 11"/>
          <p:cNvSpPr txBox="1"/>
          <p:nvPr/>
        </p:nvSpPr>
        <p:spPr>
          <a:xfrm>
            <a:off x="5715000" y="2834640"/>
            <a:ext cx="2971800" cy="457200"/>
          </a:xfrm>
          <a:prstGeom prst="rect">
            <a:avLst/>
          </a:prstGeom>
          <a:noFill/>
          <a:ln/>
        </p:spPr>
        <p:txBody>
          <a:bodyPr wrap="square" lIns="0" tIns="0" rIns="0" bIns="0" rtlCol="0" anchor="t"/>
          <a:lstStyle/>
          <a:p>
            <a:pPr indent="0" marL="0">
              <a:buNone/>
            </a:pPr>
            <a:r>
              <a:rPr lang="en-US" sz="950" i="1" dirty="0">
                <a:solidFill>
                  <a:srgbClr val="5B6B7C"/>
                </a:solidFill>
                <a:latin typeface="Calibri" pitchFamily="34" charset="0"/>
                <a:ea typeface="Calibri" pitchFamily="34" charset="-122"/>
                <a:cs typeface="Calibri" pitchFamily="34" charset="-120"/>
              </a:rPr>
              <a:t>Launch visual (illustrative mockup): homepage hero, organizer prompt, invitee payment screen.</a:t>
            </a:r>
            <a:endParaRPr lang="en-US" sz="950" dirty="0"/>
          </a:p>
        </p:txBody>
      </p:sp>
      <p:sp>
        <p:nvSpPr>
          <p:cNvPr id="15" name="Shape 12"/>
          <p:cNvSpPr/>
          <p:nvPr/>
        </p:nvSpPr>
        <p:spPr>
          <a:xfrm>
            <a:off x="5715000" y="3337560"/>
            <a:ext cx="2971800" cy="12801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5852160" y="3401568"/>
            <a:ext cx="2697480" cy="1170432"/>
          </a:xfrm>
          <a:prstGeom prst="rect">
            <a:avLst/>
          </a:prstGeom>
          <a:noFill/>
          <a:ln/>
        </p:spPr>
        <p:txBody>
          <a:bodyPr wrap="square" lIns="0" tIns="0" rIns="0" bIns="0" rtlCol="0" anchor="t"/>
          <a:lstStyle/>
          <a:p>
            <a:pPr indent="0" marL="0">
              <a:buNone/>
            </a:pPr>
            <a:r>
              <a:rPr lang="en-US" sz="900" b="1" dirty="0">
                <a:solidFill>
                  <a:srgbClr val="3B82F6"/>
                </a:solidFill>
                <a:latin typeface="Calibri" pitchFamily="34" charset="0"/>
                <a:ea typeface="Calibri" pitchFamily="34" charset="-122"/>
                <a:cs typeface="Calibri" pitchFamily="34" charset="-120"/>
              </a:rPr>
              <a:t>HOMEPAGE</a:t>
            </a:r>
            <a:endParaRPr lang="en-US" sz="900" dirty="0"/>
          </a:p>
          <a:p>
            <a:pPr indent="0" marL="0">
              <a:spcAft>
                <a:spcPts val="400"/>
              </a:spcAft>
              <a:buNone/>
            </a:pPr>
            <a:r>
              <a:rPr lang="en-US" sz="1000" dirty="0">
                <a:solidFill>
                  <a:srgbClr val="0F1E33"/>
                </a:solidFill>
                <a:latin typeface="Calibri" pitchFamily="34" charset="0"/>
                <a:ea typeface="Calibri" pitchFamily="34" charset="-122"/>
                <a:cs typeface="Calibri" pitchFamily="34" charset="-120"/>
              </a:rPr>
              <a:t>Group trips, without the group chat chaos.</a:t>
            </a:r>
            <a:endParaRPr lang="en-US" sz="900" dirty="0"/>
          </a:p>
          <a:p>
            <a:pPr indent="0" marL="0">
              <a:buNone/>
            </a:pPr>
            <a:r>
              <a:rPr lang="en-US" sz="900" b="1" dirty="0">
                <a:solidFill>
                  <a:srgbClr val="3B82F6"/>
                </a:solidFill>
                <a:latin typeface="Calibri" pitchFamily="34" charset="0"/>
                <a:ea typeface="Calibri" pitchFamily="34" charset="-122"/>
                <a:cs typeface="Calibri" pitchFamily="34" charset="-120"/>
              </a:rPr>
              <a:t>IN-APP (ORGANIZER)</a:t>
            </a:r>
            <a:endParaRPr lang="en-US" sz="900" dirty="0"/>
          </a:p>
          <a:p>
            <a:pPr indent="0" marL="0">
              <a:buNone/>
            </a:pPr>
            <a:r>
              <a:rPr lang="en-US" sz="1000" dirty="0">
                <a:solidFill>
                  <a:srgbClr val="0F1E33"/>
                </a:solidFill>
                <a:latin typeface="Calibri" pitchFamily="34" charset="0"/>
                <a:ea typeface="Calibri" pitchFamily="34" charset="-122"/>
                <a:cs typeface="Calibri" pitchFamily="34" charset="-120"/>
              </a:rPr>
              <a:t>Booking for friends? Send one link. You don’t front a thing.</a:t>
            </a:r>
            <a:endParaRPr lang="en-US" sz="900" dirty="0"/>
          </a:p>
        </p:txBody>
      </p:sp>
      <p:sp>
        <p:nvSpPr>
          <p:cNvPr id="17" name="Text 14"/>
          <p:cNvSpPr txBox="1"/>
          <p:nvPr/>
        </p:nvSpPr>
        <p:spPr>
          <a:xfrm>
            <a:off x="457200" y="4773168"/>
            <a:ext cx="7863840" cy="274320"/>
          </a:xfrm>
          <a:prstGeom prst="rect">
            <a:avLst/>
          </a:prstGeom>
          <a:noFill/>
          <a:ln/>
        </p:spPr>
        <p:txBody>
          <a:bodyPr wrap="square" lIns="0" tIns="0" rIns="0" bIns="0" rtlCol="0" anchor="t"/>
          <a:lstStyle/>
          <a:p>
            <a:pPr indent="0" marL="0">
              <a:buNone/>
            </a:pPr>
            <a:r>
              <a:rPr lang="en-US" sz="850" dirty="0">
                <a:solidFill>
                  <a:srgbClr val="5B6B7C"/>
                </a:solidFill>
                <a:latin typeface="Calibri" pitchFamily="34" charset="0"/>
                <a:ea typeface="Calibri" pitchFamily="34" charset="-122"/>
                <a:cs typeface="Calibri" pitchFamily="34" charset="-120"/>
              </a:rPr>
              <a:t>Sources: [S1] CIT Bank / Harris Poll; [Brief]. Blind read with a real peer is still to do.</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3B82F6"/>
                </a:solidFill>
                <a:latin typeface="Calibri" pitchFamily="34" charset="0"/>
                <a:ea typeface="Calibri" pitchFamily="34" charset="-122"/>
                <a:cs typeface="Calibri" pitchFamily="34" charset="-120"/>
              </a:rPr>
              <a:t>05 · PRICING RECOMMENDATION</a:t>
            </a:r>
            <a:endParaRPr lang="en-US" sz="1050" dirty="0"/>
          </a:p>
        </p:txBody>
      </p:sp>
      <p:sp>
        <p:nvSpPr>
          <p:cNvPr id="3" name="Text 1"/>
          <p:cNvSpPr txBox="1"/>
          <p:nvPr/>
        </p:nvSpPr>
        <p:spPr>
          <a:xfrm>
            <a:off x="457200" y="502920"/>
            <a:ext cx="8229600" cy="502920"/>
          </a:xfrm>
          <a:prstGeom prst="rect">
            <a:avLst/>
          </a:prstGeom>
          <a:noFill/>
          <a:ln/>
        </p:spPr>
        <p:txBody>
          <a:bodyPr wrap="square" lIns="0" tIns="0" rIns="0" bIns="0" rtlCol="0" anchor="t"/>
          <a:lstStyle/>
          <a:p>
            <a:pPr indent="0" marL="0">
              <a:buNone/>
            </a:pPr>
            <a:r>
              <a:rPr lang="en-US" sz="2400" b="1" dirty="0">
                <a:solidFill>
                  <a:srgbClr val="07162C"/>
                </a:solidFill>
                <a:latin typeface="Cambria" pitchFamily="34" charset="0"/>
                <a:ea typeface="Cambria" pitchFamily="34" charset="-122"/>
                <a:cs typeface="Cambria" pitchFamily="34" charset="-120"/>
              </a:rPr>
              <a:t>Free to organize, priced to protect the loop</a:t>
            </a:r>
            <a:endParaRPr lang="en-US" sz="2400" dirty="0"/>
          </a:p>
        </p:txBody>
      </p:sp>
      <p:sp>
        <p:nvSpPr>
          <p:cNvPr id="4" name="Text 2"/>
          <p:cNvSpPr txBox="1"/>
          <p:nvPr/>
        </p:nvSpPr>
        <p:spPr>
          <a:xfrm>
            <a:off x="8412480" y="4828032"/>
            <a:ext cx="274320" cy="18288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457200" y="1097280"/>
            <a:ext cx="2651760" cy="22402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640080" y="1207008"/>
            <a:ext cx="2286000" cy="320040"/>
          </a:xfrm>
          <a:prstGeom prst="rect">
            <a:avLst/>
          </a:prstGeom>
          <a:noFill/>
          <a:ln/>
        </p:spPr>
        <p:txBody>
          <a:bodyPr wrap="square" lIns="0" tIns="0" rIns="0" bIns="0" rtlCol="0" anchor="ctr"/>
          <a:lstStyle/>
          <a:p>
            <a:pPr indent="0" marL="0">
              <a:buNone/>
            </a:pPr>
            <a:r>
              <a:rPr lang="en-US" sz="1700" b="1" dirty="0">
                <a:solidFill>
                  <a:srgbClr val="07162C"/>
                </a:solidFill>
                <a:latin typeface="Cambria" pitchFamily="34" charset="0"/>
                <a:ea typeface="Cambria" pitchFamily="34" charset="-122"/>
                <a:cs typeface="Cambria" pitchFamily="34" charset="-120"/>
              </a:rPr>
              <a:t>Group Basics</a:t>
            </a:r>
            <a:endParaRPr lang="en-US" sz="1700" dirty="0"/>
          </a:p>
        </p:txBody>
      </p:sp>
      <p:sp>
        <p:nvSpPr>
          <p:cNvPr id="7" name="Text 5"/>
          <p:cNvSpPr txBox="1"/>
          <p:nvPr/>
        </p:nvSpPr>
        <p:spPr>
          <a:xfrm>
            <a:off x="640080" y="1554480"/>
            <a:ext cx="2286000" cy="201168"/>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Up to ~6 people</a:t>
            </a:r>
            <a:endParaRPr lang="en-US" sz="1100" dirty="0"/>
          </a:p>
        </p:txBody>
      </p:sp>
      <p:sp>
        <p:nvSpPr>
          <p:cNvPr id="8" name="Text 6"/>
          <p:cNvSpPr txBox="1"/>
          <p:nvPr/>
        </p:nvSpPr>
        <p:spPr>
          <a:xfrm>
            <a:off x="640080" y="1828800"/>
            <a:ext cx="2286000" cy="548640"/>
          </a:xfrm>
          <a:prstGeom prst="rect">
            <a:avLst/>
          </a:prstGeom>
          <a:noFill/>
          <a:ln/>
        </p:spPr>
        <p:txBody>
          <a:bodyPr wrap="square" lIns="0" tIns="0" rIns="0" bIns="0" rtlCol="0" anchor="t"/>
          <a:lstStyle/>
          <a:p>
            <a:pPr indent="0" marL="0">
              <a:buNone/>
            </a:pPr>
            <a:r>
              <a:rPr lang="en-US" sz="1250" b="1" dirty="0">
                <a:solidFill>
                  <a:srgbClr val="07162C"/>
                </a:solidFill>
                <a:latin typeface="Calibri" pitchFamily="34" charset="0"/>
                <a:ea typeface="Calibri" pitchFamily="34" charset="-122"/>
                <a:cs typeface="Calibri" pitchFamily="34" charset="-120"/>
              </a:rPr>
              <a:t>Free to the organizer; no group fee</a:t>
            </a:r>
            <a:endParaRPr lang="en-US" sz="1250" dirty="0"/>
          </a:p>
        </p:txBody>
      </p:sp>
      <p:sp>
        <p:nvSpPr>
          <p:cNvPr id="9" name="Text 7"/>
          <p:cNvSpPr txBox="1"/>
          <p:nvPr/>
        </p:nvSpPr>
        <p:spPr>
          <a:xfrm>
            <a:off x="640080" y="2377440"/>
            <a:ext cx="2286000" cy="914400"/>
          </a:xfrm>
          <a:prstGeom prst="rect">
            <a:avLst/>
          </a:prstGeom>
          <a:noFill/>
          <a:ln/>
        </p:spPr>
        <p:txBody>
          <a:bodyPr wrap="square" lIns="0" tIns="0" rIns="0" bIns="0" rtlCol="0" anchor="t"/>
          <a:lstStyle/>
          <a:p>
            <a:pPr indent="0" marL="0">
              <a:buNone/>
            </a:pPr>
            <a:r>
              <a:rPr lang="en-US" sz="1150" dirty="0">
                <a:solidFill>
                  <a:srgbClr val="0F1E33"/>
                </a:solidFill>
                <a:latin typeface="Calibri" pitchFamily="34" charset="0"/>
                <a:ea typeface="Calibri" pitchFamily="34" charset="-122"/>
                <a:cs typeface="Calibri" pitchFamily="34" charset="-120"/>
              </a:rPr>
              <a:t>Invite link, split payments, shared itinerary</a:t>
            </a:r>
            <a:endParaRPr lang="en-US" sz="1150" dirty="0"/>
          </a:p>
        </p:txBody>
      </p:sp>
      <p:sp>
        <p:nvSpPr>
          <p:cNvPr id="10" name="Shape 8"/>
          <p:cNvSpPr/>
          <p:nvPr/>
        </p:nvSpPr>
        <p:spPr>
          <a:xfrm>
            <a:off x="3246120" y="1097280"/>
            <a:ext cx="2651760" cy="224028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3429000" y="1207008"/>
            <a:ext cx="2286000" cy="320040"/>
          </a:xfrm>
          <a:prstGeom prst="rect">
            <a:avLst/>
          </a:prstGeom>
          <a:noFill/>
          <a:ln/>
        </p:spPr>
        <p:txBody>
          <a:bodyPr wrap="square" lIns="0" tIns="0" rIns="0" bIns="0" rtlCol="0" anchor="ctr"/>
          <a:lstStyle/>
          <a:p>
            <a:pPr indent="0" marL="0">
              <a:buNone/>
            </a:pPr>
            <a:r>
              <a:rPr lang="en-US" sz="1700" b="1" dirty="0">
                <a:solidFill>
                  <a:srgbClr val="F59E5B"/>
                </a:solidFill>
                <a:latin typeface="Cambria" pitchFamily="34" charset="0"/>
                <a:ea typeface="Cambria" pitchFamily="34" charset="-122"/>
                <a:cs typeface="Cambria" pitchFamily="34" charset="-120"/>
              </a:rPr>
              <a:t>Group Plus  ★</a:t>
            </a:r>
            <a:endParaRPr lang="en-US" sz="1700" dirty="0"/>
          </a:p>
        </p:txBody>
      </p:sp>
      <p:sp>
        <p:nvSpPr>
          <p:cNvPr id="12" name="Text 10"/>
          <p:cNvSpPr txBox="1"/>
          <p:nvPr/>
        </p:nvSpPr>
        <p:spPr>
          <a:xfrm>
            <a:off x="3429000" y="1554480"/>
            <a:ext cx="2286000" cy="201168"/>
          </a:xfrm>
          <a:prstGeom prst="rect">
            <a:avLst/>
          </a:prstGeom>
          <a:noFill/>
          <a:ln/>
        </p:spPr>
        <p:txBody>
          <a:bodyPr wrap="square" lIns="0" tIns="0" rIns="0" bIns="0" rtlCol="0" anchor="ctr"/>
          <a:lstStyle/>
          <a:p>
            <a:pPr indent="0" marL="0">
              <a:buNone/>
            </a:pPr>
            <a:r>
              <a:rPr lang="en-US" sz="1100" dirty="0">
                <a:solidFill>
                  <a:srgbClr val="DCE6F5"/>
                </a:solidFill>
                <a:latin typeface="Calibri" pitchFamily="34" charset="0"/>
                <a:ea typeface="Calibri" pitchFamily="34" charset="-122"/>
                <a:cs typeface="Calibri" pitchFamily="34" charset="-120"/>
              </a:rPr>
              <a:t>Up to ~15 people</a:t>
            </a:r>
            <a:endParaRPr lang="en-US" sz="1100" dirty="0"/>
          </a:p>
        </p:txBody>
      </p:sp>
      <p:sp>
        <p:nvSpPr>
          <p:cNvPr id="13" name="Text 11"/>
          <p:cNvSpPr txBox="1"/>
          <p:nvPr/>
        </p:nvSpPr>
        <p:spPr>
          <a:xfrm>
            <a:off x="3429000" y="1828800"/>
            <a:ext cx="2286000" cy="54864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Small all-in per-person fee (test 0%, 3%, 5%)</a:t>
            </a:r>
            <a:endParaRPr lang="en-US" sz="1250" dirty="0"/>
          </a:p>
        </p:txBody>
      </p:sp>
      <p:sp>
        <p:nvSpPr>
          <p:cNvPr id="14" name="Text 12"/>
          <p:cNvSpPr txBox="1"/>
          <p:nvPr/>
        </p:nvSpPr>
        <p:spPr>
          <a:xfrm>
            <a:off x="3429000" y="2377440"/>
            <a:ext cx="2286000" cy="914400"/>
          </a:xfrm>
          <a:prstGeom prst="rect">
            <a:avLst/>
          </a:prstGeom>
          <a:noFill/>
          <a:ln/>
        </p:spPr>
        <p:txBody>
          <a:bodyPr wrap="square" lIns="0" tIns="0" rIns="0" bIns="0" rtlCol="0" anchor="t"/>
          <a:lstStyle/>
          <a:p>
            <a:pPr indent="0" marL="0">
              <a:buNone/>
            </a:pPr>
            <a:r>
              <a:rPr lang="en-US" sz="1150" dirty="0">
                <a:solidFill>
                  <a:srgbClr val="DCE6F5"/>
                </a:solidFill>
                <a:latin typeface="Calibri" pitchFamily="34" charset="0"/>
                <a:ea typeface="Calibri" pitchFamily="34" charset="-122"/>
                <a:cs typeface="Calibri" pitchFamily="34" charset="-120"/>
              </a:rPr>
              <a:t>Basics + deadlines and reminders, polls, spot hold, multi-experience plans</a:t>
            </a:r>
            <a:endParaRPr lang="en-US" sz="1150" dirty="0"/>
          </a:p>
        </p:txBody>
      </p:sp>
      <p:sp>
        <p:nvSpPr>
          <p:cNvPr id="15" name="Shape 13"/>
          <p:cNvSpPr/>
          <p:nvPr/>
        </p:nvSpPr>
        <p:spPr>
          <a:xfrm>
            <a:off x="6035040" y="1097280"/>
            <a:ext cx="2651760" cy="22402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217920" y="1207008"/>
            <a:ext cx="2286000" cy="320040"/>
          </a:xfrm>
          <a:prstGeom prst="rect">
            <a:avLst/>
          </a:prstGeom>
          <a:noFill/>
          <a:ln/>
        </p:spPr>
        <p:txBody>
          <a:bodyPr wrap="square" lIns="0" tIns="0" rIns="0" bIns="0" rtlCol="0" anchor="ctr"/>
          <a:lstStyle/>
          <a:p>
            <a:pPr indent="0" marL="0">
              <a:buNone/>
            </a:pPr>
            <a:r>
              <a:rPr lang="en-US" sz="1700" b="1" dirty="0">
                <a:solidFill>
                  <a:srgbClr val="07162C"/>
                </a:solidFill>
                <a:latin typeface="Cambria" pitchFamily="34" charset="0"/>
                <a:ea typeface="Cambria" pitchFamily="34" charset="-122"/>
                <a:cs typeface="Cambria" pitchFamily="34" charset="-120"/>
              </a:rPr>
              <a:t>Group Concierge</a:t>
            </a:r>
            <a:endParaRPr lang="en-US" sz="1700" dirty="0"/>
          </a:p>
        </p:txBody>
      </p:sp>
      <p:sp>
        <p:nvSpPr>
          <p:cNvPr id="17" name="Text 15"/>
          <p:cNvSpPr txBox="1"/>
          <p:nvPr/>
        </p:nvSpPr>
        <p:spPr>
          <a:xfrm>
            <a:off x="6217920" y="1554480"/>
            <a:ext cx="2286000" cy="201168"/>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16+ people</a:t>
            </a:r>
            <a:endParaRPr lang="en-US" sz="1100" dirty="0"/>
          </a:p>
        </p:txBody>
      </p:sp>
      <p:sp>
        <p:nvSpPr>
          <p:cNvPr id="18" name="Text 16"/>
          <p:cNvSpPr txBox="1"/>
          <p:nvPr/>
        </p:nvSpPr>
        <p:spPr>
          <a:xfrm>
            <a:off x="6217920" y="1828800"/>
            <a:ext cx="2286000" cy="548640"/>
          </a:xfrm>
          <a:prstGeom prst="rect">
            <a:avLst/>
          </a:prstGeom>
          <a:noFill/>
          <a:ln/>
        </p:spPr>
        <p:txBody>
          <a:bodyPr wrap="square" lIns="0" tIns="0" rIns="0" bIns="0" rtlCol="0" anchor="t"/>
          <a:lstStyle/>
          <a:p>
            <a:pPr indent="0" marL="0">
              <a:buNone/>
            </a:pPr>
            <a:r>
              <a:rPr lang="en-US" sz="1250" b="1" dirty="0">
                <a:solidFill>
                  <a:srgbClr val="07162C"/>
                </a:solidFill>
                <a:latin typeface="Calibri" pitchFamily="34" charset="0"/>
                <a:ea typeface="Calibri" pitchFamily="34" charset="-122"/>
                <a:cs typeface="Calibri" pitchFamily="34" charset="-120"/>
              </a:rPr>
              <a:t>Waitlist / custom quote</a:t>
            </a:r>
            <a:endParaRPr lang="en-US" sz="1250" dirty="0"/>
          </a:p>
        </p:txBody>
      </p:sp>
      <p:sp>
        <p:nvSpPr>
          <p:cNvPr id="19" name="Text 17"/>
          <p:cNvSpPr txBox="1"/>
          <p:nvPr/>
        </p:nvSpPr>
        <p:spPr>
          <a:xfrm>
            <a:off x="6217920" y="2377440"/>
            <a:ext cx="2286000" cy="914400"/>
          </a:xfrm>
          <a:prstGeom prst="rect">
            <a:avLst/>
          </a:prstGeom>
          <a:noFill/>
          <a:ln/>
        </p:spPr>
        <p:txBody>
          <a:bodyPr wrap="square" lIns="0" tIns="0" rIns="0" bIns="0" rtlCol="0" anchor="t"/>
          <a:lstStyle/>
          <a:p>
            <a:pPr indent="0" marL="0">
              <a:buNone/>
            </a:pPr>
            <a:r>
              <a:rPr lang="en-US" sz="1150" dirty="0">
                <a:solidFill>
                  <a:srgbClr val="0F1E33"/>
                </a:solidFill>
                <a:latin typeface="Calibri" pitchFamily="34" charset="0"/>
                <a:ea typeface="Calibri" pitchFamily="34" charset="-122"/>
                <a:cs typeface="Calibri" pitchFamily="34" charset="-120"/>
              </a:rPr>
              <a:t>Host coordination for private groups; sizes corporate demand, nothing built</a:t>
            </a:r>
            <a:endParaRPr lang="en-US" sz="1150" dirty="0"/>
          </a:p>
        </p:txBody>
      </p:sp>
      <p:sp>
        <p:nvSpPr>
          <p:cNvPr id="20" name="Text 18"/>
          <p:cNvSpPr txBox="1"/>
          <p:nvPr/>
        </p:nvSpPr>
        <p:spPr>
          <a:xfrm>
            <a:off x="457200" y="3474720"/>
            <a:ext cx="8229600" cy="411480"/>
          </a:xfrm>
          <a:prstGeom prst="rect">
            <a:avLst/>
          </a:prstGeom>
          <a:noFill/>
          <a:ln/>
        </p:spPr>
        <p:txBody>
          <a:bodyPr wrap="square" lIns="0" tIns="0" rIns="0" bIns="0" rtlCol="0" anchor="t"/>
          <a:lstStyle/>
          <a:p>
            <a:pPr indent="0" marL="0">
              <a:buNone/>
            </a:pPr>
            <a:r>
              <a:rPr lang="en-US" sz="1100" dirty="0">
                <a:solidFill>
                  <a:srgbClr val="0F1E33"/>
                </a:solidFill>
                <a:latin typeface="Calibri" pitchFamily="34" charset="0"/>
                <a:ea typeface="Calibri" pitchFamily="34" charset="-122"/>
                <a:cs typeface="Calibri" pitchFamily="34" charset="-120"/>
              </a:rPr>
              <a:t>Model: transaction-based hybrid. Goal: prove group booking is a repeatable behavior and seed the invite loop. Prices are hypotheses (no willingness-to-pay data yet).</a:t>
            </a:r>
            <a:endParaRPr lang="en-US" sz="1100" dirty="0"/>
          </a:p>
        </p:txBody>
      </p:sp>
      <p:sp>
        <p:nvSpPr>
          <p:cNvPr id="21" name="Text 19"/>
          <p:cNvSpPr txBox="1"/>
          <p:nvPr/>
        </p:nvSpPr>
        <p:spPr>
          <a:xfrm>
            <a:off x="457200" y="3913632"/>
            <a:ext cx="8229600" cy="411480"/>
          </a:xfrm>
          <a:prstGeom prst="rect">
            <a:avLst/>
          </a:prstGeom>
          <a:noFill/>
          <a:ln/>
        </p:spPr>
        <p:txBody>
          <a:bodyPr wrap="square" lIns="0" tIns="0" rIns="0" bIns="0" rtlCol="0" anchor="t"/>
          <a:lstStyle/>
          <a:p>
            <a:pPr indent="0" marL="0">
              <a:buNone/>
            </a:pPr>
            <a:r>
              <a:rPr lang="en-US" sz="1100" b="1" dirty="0">
                <a:solidFill>
                  <a:srgbClr val="0F1E33"/>
                </a:solidFill>
                <a:latin typeface="Calibri" pitchFamily="34" charset="0"/>
                <a:ea typeface="Calibri" pitchFamily="34" charset="-122"/>
                <a:cs typeface="Calibri" pitchFamily="34" charset="-120"/>
              </a:rPr>
              <a:t>Validate first: who bears the fee. Van Westendorp for the range, Max-Diff for tier contents; beta fee cells compared on the invitee payment rate.</a:t>
            </a:r>
            <a:endParaRPr lang="en-US" sz="1100" dirty="0"/>
          </a:p>
        </p:txBody>
      </p:sp>
      <p:sp>
        <p:nvSpPr>
          <p:cNvPr id="22" name="Text 20"/>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1050" dirty="0">
                <a:solidFill>
                  <a:srgbClr val="5B6B7C"/>
                </a:solidFill>
                <a:latin typeface="Calibri" pitchFamily="34" charset="0"/>
                <a:ea typeface="Calibri" pitchFamily="34" charset="-122"/>
                <a:cs typeface="Calibri" pitchFamily="34" charset="-120"/>
              </a:rPr>
              <a:t>Cost check: splitting $480 into eight payments costs ~$2.10 more to process (about 0.4% of the basket) at a 2.9% + $0.30 benchmark [S5].</a:t>
            </a:r>
            <a:endParaRPr lang="en-US" sz="1050" dirty="0"/>
          </a:p>
        </p:txBody>
      </p:sp>
      <p:sp>
        <p:nvSpPr>
          <p:cNvPr id="23" name="Text 21"/>
          <p:cNvSpPr txBox="1"/>
          <p:nvPr/>
        </p:nvSpPr>
        <p:spPr>
          <a:xfrm>
            <a:off x="457200" y="4773168"/>
            <a:ext cx="7863840" cy="274320"/>
          </a:xfrm>
          <a:prstGeom prst="rect">
            <a:avLst/>
          </a:prstGeom>
          <a:noFill/>
          <a:ln/>
        </p:spPr>
        <p:txBody>
          <a:bodyPr wrap="square" lIns="0" tIns="0" rIns="0" bIns="0" rtlCol="0" anchor="t"/>
          <a:lstStyle/>
          <a:p>
            <a:pPr indent="0" marL="0">
              <a:buNone/>
            </a:pPr>
            <a:r>
              <a:rPr lang="en-US" sz="850" dirty="0">
                <a:solidFill>
                  <a:srgbClr val="5B6B7C"/>
                </a:solidFill>
                <a:latin typeface="Calibri" pitchFamily="34" charset="0"/>
                <a:ea typeface="Calibri" pitchFamily="34" charset="-122"/>
                <a:cs typeface="Calibri" pitchFamily="34" charset="-120"/>
              </a:rPr>
              <a:t>Benchmarks: SquadTrip 6% traveler-paid fee; WeTravel 2.5% [S5, vendor-published]; Viator keeps ~20% of gross [S2].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3B82F6"/>
                </a:solidFill>
                <a:latin typeface="Calibri" pitchFamily="34" charset="0"/>
                <a:ea typeface="Calibri" pitchFamily="34" charset="-122"/>
                <a:cs typeface="Calibri" pitchFamily="34" charset="-120"/>
              </a:rPr>
              <a:t>06 · INDIVIDUAL INSIGHTS</a:t>
            </a:r>
            <a:endParaRPr lang="en-US" sz="1050" dirty="0"/>
          </a:p>
        </p:txBody>
      </p:sp>
      <p:sp>
        <p:nvSpPr>
          <p:cNvPr id="3" name="Text 1"/>
          <p:cNvSpPr txBox="1"/>
          <p:nvPr/>
        </p:nvSpPr>
        <p:spPr>
          <a:xfrm>
            <a:off x="457200" y="502920"/>
            <a:ext cx="8229600" cy="502920"/>
          </a:xfrm>
          <a:prstGeom prst="rect">
            <a:avLst/>
          </a:prstGeom>
          <a:noFill/>
          <a:ln/>
        </p:spPr>
        <p:txBody>
          <a:bodyPr wrap="square" lIns="0" tIns="0" rIns="0" bIns="0" rtlCol="0" anchor="t"/>
          <a:lstStyle/>
          <a:p>
            <a:pPr indent="0" marL="0">
              <a:buNone/>
            </a:pPr>
            <a:r>
              <a:rPr lang="en-US" sz="2400" b="1" dirty="0">
                <a:solidFill>
                  <a:srgbClr val="07162C"/>
                </a:solidFill>
                <a:latin typeface="Cambria" pitchFamily="34" charset="0"/>
                <a:ea typeface="Cambria" pitchFamily="34" charset="-122"/>
                <a:cs typeface="Cambria" pitchFamily="34" charset="-120"/>
              </a:rPr>
              <a:t>What building this taught me</a:t>
            </a:r>
            <a:endParaRPr lang="en-US" sz="2400" dirty="0"/>
          </a:p>
        </p:txBody>
      </p:sp>
      <p:sp>
        <p:nvSpPr>
          <p:cNvPr id="4" name="Text 2"/>
          <p:cNvSpPr txBox="1"/>
          <p:nvPr/>
        </p:nvSpPr>
        <p:spPr>
          <a:xfrm>
            <a:off x="8412480" y="4828032"/>
            <a:ext cx="274320" cy="18288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457200" y="1097280"/>
            <a:ext cx="2651760" cy="30632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640080" y="1234440"/>
            <a:ext cx="2286000" cy="320040"/>
          </a:xfrm>
          <a:prstGeom prst="rect">
            <a:avLst/>
          </a:prstGeom>
          <a:noFill/>
          <a:ln/>
        </p:spPr>
        <p:txBody>
          <a:bodyPr wrap="square" lIns="0" tIns="0" rIns="0" bIns="0" rtlCol="0" anchor="ctr"/>
          <a:lstStyle/>
          <a:p>
            <a:pPr indent="0" marL="0">
              <a:buNone/>
            </a:pPr>
            <a:r>
              <a:rPr lang="en-US" sz="1500" b="1" dirty="0">
                <a:solidFill>
                  <a:srgbClr val="07162C"/>
                </a:solidFill>
                <a:latin typeface="Cambria" pitchFamily="34" charset="0"/>
                <a:ea typeface="Cambria" pitchFamily="34" charset="-122"/>
                <a:cs typeface="Cambria" pitchFamily="34" charset="-120"/>
              </a:rPr>
              <a:t>Biggest aha</a:t>
            </a:r>
            <a:endParaRPr lang="en-US" sz="1500" dirty="0"/>
          </a:p>
        </p:txBody>
      </p:sp>
      <p:sp>
        <p:nvSpPr>
          <p:cNvPr id="7" name="Text 5"/>
          <p:cNvSpPr txBox="1"/>
          <p:nvPr/>
        </p:nvSpPr>
        <p:spPr>
          <a:xfrm>
            <a:off x="640080" y="1645920"/>
            <a:ext cx="2286000" cy="2377440"/>
          </a:xfrm>
          <a:prstGeom prst="rect">
            <a:avLst/>
          </a:prstGeom>
          <a:noFill/>
          <a:ln/>
        </p:spPr>
        <p:txBody>
          <a:bodyPr wrap="square" lIns="0" tIns="0" rIns="0" bIns="0" rtlCol="0" anchor="t"/>
          <a:lstStyle/>
          <a:p>
            <a:pPr indent="0" marL="0">
              <a:buNone/>
            </a:pPr>
            <a:r>
              <a:rPr lang="en-US" sz="1400" dirty="0">
                <a:solidFill>
                  <a:srgbClr val="0F1E33"/>
                </a:solidFill>
                <a:latin typeface="Calibri" pitchFamily="34" charset="0"/>
                <a:ea typeface="Calibri" pitchFamily="34" charset="-122"/>
                <a:cs typeface="Calibri" pitchFamily="34" charset="-120"/>
              </a:rPr>
              <a:t>The biggest competitor wasn’t a company. It was the group chat, Venmo and spreadsheet people already use. Reframing the job from “book for many” to “make one person’s burden disappear” changed the segment, the bet and the pricing.</a:t>
            </a:r>
            <a:endParaRPr lang="en-US" sz="1400" dirty="0"/>
          </a:p>
        </p:txBody>
      </p:sp>
      <p:sp>
        <p:nvSpPr>
          <p:cNvPr id="8" name="Shape 6"/>
          <p:cNvSpPr/>
          <p:nvPr/>
        </p:nvSpPr>
        <p:spPr>
          <a:xfrm>
            <a:off x="3246120" y="1097280"/>
            <a:ext cx="2651760" cy="30632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429000" y="1234440"/>
            <a:ext cx="2286000" cy="320040"/>
          </a:xfrm>
          <a:prstGeom prst="rect">
            <a:avLst/>
          </a:prstGeom>
          <a:noFill/>
          <a:ln/>
        </p:spPr>
        <p:txBody>
          <a:bodyPr wrap="square" lIns="0" tIns="0" rIns="0" bIns="0" rtlCol="0" anchor="ctr"/>
          <a:lstStyle/>
          <a:p>
            <a:pPr indent="0" marL="0">
              <a:buNone/>
            </a:pPr>
            <a:r>
              <a:rPr lang="en-US" sz="1500" b="1" dirty="0">
                <a:solidFill>
                  <a:srgbClr val="07162C"/>
                </a:solidFill>
                <a:latin typeface="Cambria" pitchFamily="34" charset="0"/>
                <a:ea typeface="Cambria" pitchFamily="34" charset="-122"/>
                <a:cs typeface="Cambria" pitchFamily="34" charset="-120"/>
              </a:rPr>
              <a:t>What changed</a:t>
            </a:r>
            <a:endParaRPr lang="en-US" sz="1500" dirty="0"/>
          </a:p>
        </p:txBody>
      </p:sp>
      <p:sp>
        <p:nvSpPr>
          <p:cNvPr id="10" name="Text 8"/>
          <p:cNvSpPr txBox="1"/>
          <p:nvPr/>
        </p:nvSpPr>
        <p:spPr>
          <a:xfrm>
            <a:off x="3429000" y="1645920"/>
            <a:ext cx="2286000" cy="2377440"/>
          </a:xfrm>
          <a:prstGeom prst="rect">
            <a:avLst/>
          </a:prstGeom>
          <a:noFill/>
          <a:ln/>
        </p:spPr>
        <p:txBody>
          <a:bodyPr wrap="square" lIns="0" tIns="0" rIns="0" bIns="0" rtlCol="0" anchor="t"/>
          <a:lstStyle/>
          <a:p>
            <a:pPr indent="0" marL="0">
              <a:buNone/>
            </a:pPr>
            <a:r>
              <a:rPr lang="en-US" sz="1400" dirty="0">
                <a:solidFill>
                  <a:srgbClr val="0F1E33"/>
                </a:solidFill>
                <a:latin typeface="Calibri" pitchFamily="34" charset="0"/>
                <a:ea typeface="Calibri" pitchFamily="34" charset="-122"/>
                <a:cs typeface="Calibri" pitchFamily="34" charset="-120"/>
              </a:rPr>
              <a:t>Positioning, messaging and pricing are one argument, not three steps. A fee that adds friction for invitees would have broken the loop the motion depends on.</a:t>
            </a:r>
            <a:endParaRPr lang="en-US" sz="1400" dirty="0"/>
          </a:p>
        </p:txBody>
      </p:sp>
      <p:sp>
        <p:nvSpPr>
          <p:cNvPr id="11" name="Shape 9"/>
          <p:cNvSpPr/>
          <p:nvPr/>
        </p:nvSpPr>
        <p:spPr>
          <a:xfrm>
            <a:off x="6035040" y="1097280"/>
            <a:ext cx="2651760" cy="30632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6217920" y="1234440"/>
            <a:ext cx="2286000" cy="320040"/>
          </a:xfrm>
          <a:prstGeom prst="rect">
            <a:avLst/>
          </a:prstGeom>
          <a:noFill/>
          <a:ln/>
        </p:spPr>
        <p:txBody>
          <a:bodyPr wrap="square" lIns="0" tIns="0" rIns="0" bIns="0" rtlCol="0" anchor="ctr"/>
          <a:lstStyle/>
          <a:p>
            <a:pPr indent="0" marL="0">
              <a:buNone/>
            </a:pPr>
            <a:r>
              <a:rPr lang="en-US" sz="1500" b="1" dirty="0">
                <a:solidFill>
                  <a:srgbClr val="07162C"/>
                </a:solidFill>
                <a:latin typeface="Cambria" pitchFamily="34" charset="0"/>
                <a:ea typeface="Cambria" pitchFamily="34" charset="-122"/>
                <a:cs typeface="Cambria" pitchFamily="34" charset="-120"/>
              </a:rPr>
              <a:t>Friction and next time</a:t>
            </a:r>
            <a:endParaRPr lang="en-US" sz="1500" dirty="0"/>
          </a:p>
        </p:txBody>
      </p:sp>
      <p:sp>
        <p:nvSpPr>
          <p:cNvPr id="13" name="Text 11"/>
          <p:cNvSpPr txBox="1"/>
          <p:nvPr/>
        </p:nvSpPr>
        <p:spPr>
          <a:xfrm>
            <a:off x="6217920" y="1645920"/>
            <a:ext cx="2286000" cy="2377440"/>
          </a:xfrm>
          <a:prstGeom prst="rect">
            <a:avLst/>
          </a:prstGeom>
          <a:noFill/>
          <a:ln/>
        </p:spPr>
        <p:txBody>
          <a:bodyPr wrap="square" lIns="0" tIns="0" rIns="0" bIns="0" rtlCol="0" anchor="t"/>
          <a:lstStyle/>
          <a:p>
            <a:pPr indent="0" marL="0">
              <a:buNone/>
            </a:pPr>
            <a:r>
              <a:rPr lang="en-US" sz="1400" dirty="0">
                <a:solidFill>
                  <a:srgbClr val="0F1E33"/>
                </a:solidFill>
                <a:latin typeface="Calibri" pitchFamily="34" charset="0"/>
                <a:ea typeface="Calibri" pitchFamily="34" charset="-122"/>
                <a:cs typeface="Calibri" pitchFamily="34" charset="-120"/>
              </a:rPr>
              <a:t>No Roamly data beyond the brief, so every claim is sourced or labeled an assumption. Next: pull the real baseline, test the invitee flow with organizers, and run a true blind read.</a:t>
            </a:r>
            <a:endParaRPr lang="en-US" sz="1400" dirty="0"/>
          </a:p>
        </p:txBody>
      </p:sp>
      <p:sp>
        <p:nvSpPr>
          <p:cNvPr id="14" name="Shape 12"/>
          <p:cNvSpPr/>
          <p:nvPr/>
        </p:nvSpPr>
        <p:spPr>
          <a:xfrm>
            <a:off x="457200" y="4279392"/>
            <a:ext cx="8229600" cy="41148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640080" y="4279392"/>
            <a:ext cx="7863840" cy="4114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Monday: write down the one assumption that would break the strategy, and the cheapest way to test 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62C"/>
        </a:solidFill>
      </p:bgPr>
    </p:bg>
    <p:spTree>
      <p:nvGrpSpPr>
        <p:cNvPr id="1" name=""/>
        <p:cNvGrpSpPr/>
        <p:nvPr/>
      </p:nvGrpSpPr>
      <p:grpSpPr>
        <a:xfrm>
          <a:off x="0" y="0"/>
          <a:ext cx="0" cy="0"/>
          <a:chOff x="0" y="0"/>
          <a:chExt cx="0" cy="0"/>
        </a:xfrm>
      </p:grpSpPr>
      <p:sp>
        <p:nvSpPr>
          <p:cNvPr id="2" name="Text 0"/>
          <p:cNvSpPr txBox="1"/>
          <p:nvPr/>
        </p:nvSpPr>
        <p:spPr>
          <a:xfrm>
            <a:off x="640080" y="1188720"/>
            <a:ext cx="7863840" cy="274320"/>
          </a:xfrm>
          <a:prstGeom prst="rect">
            <a:avLst/>
          </a:prstGeom>
          <a:noFill/>
          <a:ln/>
        </p:spPr>
        <p:txBody>
          <a:bodyPr wrap="square" lIns="0" tIns="0" rIns="0" bIns="0" rtlCol="0" anchor="ctr"/>
          <a:lstStyle/>
          <a:p>
            <a:pPr indent="0" marL="0">
              <a:buNone/>
            </a:pPr>
            <a:r>
              <a:rPr lang="en-US" sz="1200" b="1" spc="300" kern="0" dirty="0">
                <a:solidFill>
                  <a:srgbClr val="3B82F6"/>
                </a:solidFill>
                <a:latin typeface="Calibri" pitchFamily="34" charset="0"/>
                <a:ea typeface="Calibri" pitchFamily="34" charset="-122"/>
                <a:cs typeface="Calibri" pitchFamily="34" charset="-120"/>
              </a:rPr>
              <a:t>THE GTM BET</a:t>
            </a:r>
            <a:endParaRPr lang="en-US" sz="1200" dirty="0"/>
          </a:p>
        </p:txBody>
      </p:sp>
      <p:sp>
        <p:nvSpPr>
          <p:cNvPr id="3" name="Text 1"/>
          <p:cNvSpPr txBox="1"/>
          <p:nvPr/>
        </p:nvSpPr>
        <p:spPr>
          <a:xfrm>
            <a:off x="640080" y="1600200"/>
            <a:ext cx="786384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Make the organizer’s job disappear.</a:t>
            </a:r>
            <a:endParaRPr lang="en-US" sz="4000" dirty="0"/>
          </a:p>
        </p:txBody>
      </p:sp>
      <p:sp>
        <p:nvSpPr>
          <p:cNvPr id="4" name="Text 2"/>
          <p:cNvSpPr txBox="1"/>
          <p:nvPr/>
        </p:nvSpPr>
        <p:spPr>
          <a:xfrm>
            <a:off x="640080" y="2926080"/>
            <a:ext cx="7315200" cy="548640"/>
          </a:xfrm>
          <a:prstGeom prst="rect">
            <a:avLst/>
          </a:prstGeom>
          <a:noFill/>
          <a:ln/>
        </p:spPr>
        <p:txBody>
          <a:bodyPr wrap="square" lIns="0" tIns="0" rIns="0" bIns="0" rtlCol="0" anchor="t"/>
          <a:lstStyle/>
          <a:p>
            <a:pPr indent="0" marL="0">
              <a:buNone/>
            </a:pPr>
            <a:r>
              <a:rPr lang="en-US" sz="1800" dirty="0">
                <a:solidFill>
                  <a:srgbClr val="DCE6F5"/>
                </a:solidFill>
                <a:latin typeface="Calibri" pitchFamily="34" charset="0"/>
                <a:ea typeface="Calibri" pitchFamily="34" charset="-122"/>
                <a:cs typeface="Calibri" pitchFamily="34" charset="-120"/>
              </a:rPr>
              <a:t>Roamly Groups: one link, everyone in, everyone pays their own share.</a:t>
            </a:r>
            <a:endParaRPr lang="en-US" sz="1800" dirty="0"/>
          </a:p>
        </p:txBody>
      </p:sp>
      <p:sp>
        <p:nvSpPr>
          <p:cNvPr id="5" name="Text 3"/>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2400" dirty="0">
                <a:solidFill>
                  <a:srgbClr val="F59E5B"/>
                </a:solidFill>
                <a:latin typeface="Cambria" pitchFamily="34" charset="0"/>
                <a:ea typeface="Cambria" pitchFamily="34" charset="-122"/>
                <a:cs typeface="Cambria" pitchFamily="34" charset="-120"/>
              </a:rPr>
              <a:t>Thank you</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3B82F6"/>
                </a:solidFill>
                <a:latin typeface="Calibri" pitchFamily="34" charset="0"/>
                <a:ea typeface="Calibri" pitchFamily="34" charset="-122"/>
                <a:cs typeface="Calibri" pitchFamily="34" charset="-120"/>
              </a:rPr>
              <a:t>APPENDIX · LAUNCH PLAN</a:t>
            </a:r>
            <a:endParaRPr lang="en-US" sz="1050" dirty="0"/>
          </a:p>
        </p:txBody>
      </p:sp>
      <p:sp>
        <p:nvSpPr>
          <p:cNvPr id="3" name="Text 1"/>
          <p:cNvSpPr txBox="1"/>
          <p:nvPr/>
        </p:nvSpPr>
        <p:spPr>
          <a:xfrm>
            <a:off x="457200" y="502920"/>
            <a:ext cx="8229600" cy="502920"/>
          </a:xfrm>
          <a:prstGeom prst="rect">
            <a:avLst/>
          </a:prstGeom>
          <a:noFill/>
          <a:ln/>
        </p:spPr>
        <p:txBody>
          <a:bodyPr wrap="square" lIns="0" tIns="0" rIns="0" bIns="0" rtlCol="0" anchor="t"/>
          <a:lstStyle/>
          <a:p>
            <a:pPr indent="0" marL="0">
              <a:buNone/>
            </a:pPr>
            <a:r>
              <a:rPr lang="en-US" sz="2400" b="1" dirty="0">
                <a:solidFill>
                  <a:srgbClr val="07162C"/>
                </a:solidFill>
                <a:latin typeface="Cambria" pitchFamily="34" charset="0"/>
                <a:ea typeface="Cambria" pitchFamily="34" charset="-122"/>
                <a:cs typeface="Cambria" pitchFamily="34" charset="-120"/>
              </a:rPr>
              <a:t>Prove the loop in beta, then go wide</a:t>
            </a:r>
            <a:endParaRPr lang="en-US" sz="2400" dirty="0"/>
          </a:p>
        </p:txBody>
      </p:sp>
      <p:sp>
        <p:nvSpPr>
          <p:cNvPr id="4" name="Text 2"/>
          <p:cNvSpPr txBox="1"/>
          <p:nvPr/>
        </p:nvSpPr>
        <p:spPr>
          <a:xfrm>
            <a:off x="8412480" y="4828032"/>
            <a:ext cx="274320" cy="18288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457200" y="1097280"/>
            <a:ext cx="1938528" cy="28346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594360" y="1188720"/>
            <a:ext cx="1664208" cy="292608"/>
          </a:xfrm>
          <a:prstGeom prst="rect">
            <a:avLst/>
          </a:prstGeom>
          <a:noFill/>
          <a:ln/>
        </p:spPr>
        <p:txBody>
          <a:bodyPr wrap="square" lIns="0" tIns="0" rIns="0" bIns="0" rtlCol="0" anchor="ctr"/>
          <a:lstStyle/>
          <a:p>
            <a:pPr indent="0" marL="0">
              <a:buNone/>
            </a:pPr>
            <a:r>
              <a:rPr lang="en-US" sz="1400" b="1" dirty="0">
                <a:solidFill>
                  <a:srgbClr val="07162C"/>
                </a:solidFill>
                <a:latin typeface="Cambria" pitchFamily="34" charset="0"/>
                <a:ea typeface="Cambria" pitchFamily="34" charset="-122"/>
                <a:cs typeface="Cambria" pitchFamily="34" charset="-120"/>
              </a:rPr>
              <a:t>Pre-launch</a:t>
            </a:r>
            <a:endParaRPr lang="en-US" sz="1400" dirty="0"/>
          </a:p>
        </p:txBody>
      </p:sp>
      <p:sp>
        <p:nvSpPr>
          <p:cNvPr id="7" name="Text 5"/>
          <p:cNvSpPr txBox="1"/>
          <p:nvPr/>
        </p:nvSpPr>
        <p:spPr>
          <a:xfrm>
            <a:off x="594360" y="1481328"/>
            <a:ext cx="1664208" cy="201168"/>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W-8 to W-5</a:t>
            </a:r>
            <a:endParaRPr lang="en-US" sz="1000" dirty="0"/>
          </a:p>
        </p:txBody>
      </p:sp>
      <p:sp>
        <p:nvSpPr>
          <p:cNvPr id="8" name="Text 6"/>
          <p:cNvSpPr txBox="1"/>
          <p:nvPr/>
        </p:nvSpPr>
        <p:spPr>
          <a:xfrm>
            <a:off x="594360" y="1783080"/>
            <a:ext cx="1664208" cy="205740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Leadership signs off on metrics and tripwires</a:t>
            </a:r>
            <a:endParaRPr lang="en-US" sz="1200" dirty="0"/>
          </a:p>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Week-0 baseline; unpaid-share policy</a:t>
            </a:r>
            <a:endParaRPr lang="en-US" sz="1200" dirty="0"/>
          </a:p>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Commission pricing research</a:t>
            </a:r>
            <a:endParaRPr lang="en-US" sz="1200" dirty="0"/>
          </a:p>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Enablement briefs; lock positioning</a:t>
            </a:r>
            <a:endParaRPr lang="en-US" sz="1200" dirty="0"/>
          </a:p>
        </p:txBody>
      </p:sp>
      <p:sp>
        <p:nvSpPr>
          <p:cNvPr id="9" name="Shape 7"/>
          <p:cNvSpPr/>
          <p:nvPr/>
        </p:nvSpPr>
        <p:spPr>
          <a:xfrm>
            <a:off x="2551176" y="1097280"/>
            <a:ext cx="1938528" cy="283464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2688336" y="1188720"/>
            <a:ext cx="1664208" cy="292608"/>
          </a:xfrm>
          <a:prstGeom prst="rect">
            <a:avLst/>
          </a:prstGeom>
          <a:noFill/>
          <a:ln/>
        </p:spPr>
        <p:txBody>
          <a:bodyPr wrap="square" lIns="0" tIns="0" rIns="0" bIns="0" rtlCol="0" anchor="ctr"/>
          <a:lstStyle/>
          <a:p>
            <a:pPr indent="0" marL="0">
              <a:buNone/>
            </a:pPr>
            <a:r>
              <a:rPr lang="en-US" sz="1400" b="1" dirty="0">
                <a:solidFill>
                  <a:srgbClr val="F59E5B"/>
                </a:solidFill>
                <a:latin typeface="Cambria" pitchFamily="34" charset="0"/>
                <a:ea typeface="Cambria" pitchFamily="34" charset="-122"/>
                <a:cs typeface="Cambria" pitchFamily="34" charset="-120"/>
              </a:rPr>
              <a:t>Closed beta</a:t>
            </a:r>
            <a:endParaRPr lang="en-US" sz="1400" dirty="0"/>
          </a:p>
        </p:txBody>
      </p:sp>
      <p:sp>
        <p:nvSpPr>
          <p:cNvPr id="11" name="Text 9"/>
          <p:cNvSpPr txBox="1"/>
          <p:nvPr/>
        </p:nvSpPr>
        <p:spPr>
          <a:xfrm>
            <a:off x="2688336" y="1481328"/>
            <a:ext cx="1664208" cy="201168"/>
          </a:xfrm>
          <a:prstGeom prst="rect">
            <a:avLst/>
          </a:prstGeom>
          <a:noFill/>
          <a:ln/>
        </p:spPr>
        <p:txBody>
          <a:bodyPr wrap="square" lIns="0" tIns="0" rIns="0" bIns="0" rtlCol="0" anchor="ctr"/>
          <a:lstStyle/>
          <a:p>
            <a:pPr indent="0" marL="0">
              <a:buNone/>
            </a:pPr>
            <a:r>
              <a:rPr lang="en-US" sz="1000" dirty="0">
                <a:solidFill>
                  <a:srgbClr val="DCE6F5"/>
                </a:solidFill>
                <a:latin typeface="Calibri" pitchFamily="34" charset="0"/>
                <a:ea typeface="Calibri" pitchFamily="34" charset="-122"/>
                <a:cs typeface="Calibri" pitchFamily="34" charset="-120"/>
              </a:rPr>
              <a:t>W-4 to W-1</a:t>
            </a:r>
            <a:endParaRPr lang="en-US" sz="1000" dirty="0"/>
          </a:p>
        </p:txBody>
      </p:sp>
      <p:sp>
        <p:nvSpPr>
          <p:cNvPr id="12" name="Text 10"/>
          <p:cNvSpPr txBox="1"/>
          <p:nvPr/>
        </p:nvSpPr>
        <p:spPr>
          <a:xfrm>
            <a:off x="2688336" y="1783080"/>
            <a:ext cx="1664208" cy="205740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High-value organizers only</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Test invitee flows and fee cells</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Owned channels only</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Collect named testimonials</a:t>
            </a:r>
            <a:endParaRPr lang="en-US" sz="1200" dirty="0"/>
          </a:p>
        </p:txBody>
      </p:sp>
      <p:sp>
        <p:nvSpPr>
          <p:cNvPr id="13" name="Shape 11"/>
          <p:cNvSpPr/>
          <p:nvPr/>
        </p:nvSpPr>
        <p:spPr>
          <a:xfrm>
            <a:off x="4645152" y="1097280"/>
            <a:ext cx="1938528" cy="28346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4782312" y="1188720"/>
            <a:ext cx="1664208" cy="292608"/>
          </a:xfrm>
          <a:prstGeom prst="rect">
            <a:avLst/>
          </a:prstGeom>
          <a:noFill/>
          <a:ln/>
        </p:spPr>
        <p:txBody>
          <a:bodyPr wrap="square" lIns="0" tIns="0" rIns="0" bIns="0" rtlCol="0" anchor="ctr"/>
          <a:lstStyle/>
          <a:p>
            <a:pPr indent="0" marL="0">
              <a:buNone/>
            </a:pPr>
            <a:r>
              <a:rPr lang="en-US" sz="1400" b="1" dirty="0">
                <a:solidFill>
                  <a:srgbClr val="07162C"/>
                </a:solidFill>
                <a:latin typeface="Cambria" pitchFamily="34" charset="0"/>
                <a:ea typeface="Cambria" pitchFamily="34" charset="-122"/>
                <a:cs typeface="Cambria" pitchFamily="34" charset="-120"/>
              </a:rPr>
              <a:t>Launch</a:t>
            </a:r>
            <a:endParaRPr lang="en-US" sz="1400" dirty="0"/>
          </a:p>
        </p:txBody>
      </p:sp>
      <p:sp>
        <p:nvSpPr>
          <p:cNvPr id="15" name="Text 13"/>
          <p:cNvSpPr txBox="1"/>
          <p:nvPr/>
        </p:nvSpPr>
        <p:spPr>
          <a:xfrm>
            <a:off x="4782312" y="1481328"/>
            <a:ext cx="1664208" cy="201168"/>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W0 (Tue–Thu)</a:t>
            </a:r>
            <a:endParaRPr lang="en-US" sz="1000" dirty="0"/>
          </a:p>
        </p:txBody>
      </p:sp>
      <p:sp>
        <p:nvSpPr>
          <p:cNvPr id="16" name="Text 14"/>
          <p:cNvSpPr txBox="1"/>
          <p:nvPr/>
        </p:nvSpPr>
        <p:spPr>
          <a:xfrm>
            <a:off x="4782312" y="1783080"/>
            <a:ext cx="1664208" cy="205740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In-app prompt and launch email</a:t>
            </a:r>
            <a:endParaRPr lang="en-US" sz="1200" dirty="0"/>
          </a:p>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Landing page; host announcement</a:t>
            </a:r>
            <a:endParaRPr lang="en-US" sz="1200" dirty="0"/>
          </a:p>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48-hour support watch</a:t>
            </a:r>
            <a:endParaRPr lang="en-US" sz="1200" dirty="0"/>
          </a:p>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Light earned push</a:t>
            </a:r>
            <a:endParaRPr lang="en-US" sz="1200" dirty="0"/>
          </a:p>
        </p:txBody>
      </p:sp>
      <p:sp>
        <p:nvSpPr>
          <p:cNvPr id="17" name="Shape 15"/>
          <p:cNvSpPr/>
          <p:nvPr/>
        </p:nvSpPr>
        <p:spPr>
          <a:xfrm>
            <a:off x="6739128" y="1097280"/>
            <a:ext cx="1938528" cy="28346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6876288" y="1188720"/>
            <a:ext cx="1664208" cy="292608"/>
          </a:xfrm>
          <a:prstGeom prst="rect">
            <a:avLst/>
          </a:prstGeom>
          <a:noFill/>
          <a:ln/>
        </p:spPr>
        <p:txBody>
          <a:bodyPr wrap="square" lIns="0" tIns="0" rIns="0" bIns="0" rtlCol="0" anchor="ctr"/>
          <a:lstStyle/>
          <a:p>
            <a:pPr indent="0" marL="0">
              <a:buNone/>
            </a:pPr>
            <a:r>
              <a:rPr lang="en-US" sz="1400" b="1" dirty="0">
                <a:solidFill>
                  <a:srgbClr val="07162C"/>
                </a:solidFill>
                <a:latin typeface="Cambria" pitchFamily="34" charset="0"/>
                <a:ea typeface="Cambria" pitchFamily="34" charset="-122"/>
                <a:cs typeface="Cambria" pitchFamily="34" charset="-120"/>
              </a:rPr>
              <a:t>Post-launch</a:t>
            </a:r>
            <a:endParaRPr lang="en-US" sz="1400" dirty="0"/>
          </a:p>
        </p:txBody>
      </p:sp>
      <p:sp>
        <p:nvSpPr>
          <p:cNvPr id="19" name="Text 17"/>
          <p:cNvSpPr txBox="1"/>
          <p:nvPr/>
        </p:nvSpPr>
        <p:spPr>
          <a:xfrm>
            <a:off x="6876288" y="1481328"/>
            <a:ext cx="1664208" cy="201168"/>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W+1 to W+12</a:t>
            </a:r>
            <a:endParaRPr lang="en-US" sz="1000" dirty="0"/>
          </a:p>
        </p:txBody>
      </p:sp>
      <p:sp>
        <p:nvSpPr>
          <p:cNvPr id="20" name="Text 18"/>
          <p:cNvSpPr txBox="1"/>
          <p:nvPr/>
        </p:nvSpPr>
        <p:spPr>
          <a:xfrm>
            <a:off x="6876288" y="1783080"/>
            <a:ext cx="1664208" cy="205740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“Plan the next one” lifecycle prompt</a:t>
            </a:r>
            <a:endParaRPr lang="en-US" sz="1200" dirty="0"/>
          </a:p>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Case studies; set Plus price</a:t>
            </a:r>
            <a:endParaRPr lang="en-US" sz="1200" dirty="0"/>
          </a:p>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30/60/90-day reviews</a:t>
            </a:r>
            <a:endParaRPr lang="en-US" sz="1200" dirty="0"/>
          </a:p>
          <a:p>
            <a:pPr marL="152400" indent="-152400">
              <a:spcAft>
                <a:spcPts val="700"/>
              </a:spcAft>
              <a:buSzPct val="100000"/>
              <a:buChar char="•"/>
            </a:pPr>
            <a:r>
              <a:rPr lang="en-US" sz="1200" dirty="0">
                <a:solidFill>
                  <a:srgbClr val="0F1E33"/>
                </a:solidFill>
                <a:latin typeface="Calibri" pitchFamily="34" charset="0"/>
                <a:ea typeface="Calibri" pitchFamily="34" charset="-122"/>
                <a:cs typeface="Calibri" pitchFamily="34" charset="-120"/>
              </a:rPr>
              <a:t>Decide on paid and next segment</a:t>
            </a:r>
            <a:endParaRPr lang="en-US" sz="1200" dirty="0"/>
          </a:p>
        </p:txBody>
      </p:sp>
      <p:sp>
        <p:nvSpPr>
          <p:cNvPr id="21" name="Text 19"/>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100" b="1" dirty="0">
                <a:solidFill>
                  <a:srgbClr val="0F1E33"/>
                </a:solidFill>
                <a:latin typeface="Calibri" pitchFamily="34" charset="0"/>
                <a:ea typeface="Calibri" pitchFamily="34" charset="-122"/>
                <a:cs typeface="Calibri" pitchFamily="34" charset="-120"/>
              </a:rPr>
              <a:t>Enable in order: Leadership → Support → CS → Host Partnerships → Marketing last. Dates are relative to launch (W0).</a:t>
            </a:r>
            <a:endParaRPr lang="en-US" sz="1100" dirty="0"/>
          </a:p>
        </p:txBody>
      </p:sp>
      <p:sp>
        <p:nvSpPr>
          <p:cNvPr id="22" name="Text 20"/>
          <p:cNvSpPr txBox="1"/>
          <p:nvPr/>
        </p:nvSpPr>
        <p:spPr>
          <a:xfrm>
            <a:off x="457200" y="4773168"/>
            <a:ext cx="7863840" cy="274320"/>
          </a:xfrm>
          <a:prstGeom prst="rect">
            <a:avLst/>
          </a:prstGeom>
          <a:noFill/>
          <a:ln/>
        </p:spPr>
        <p:txBody>
          <a:bodyPr wrap="square" lIns="0" tIns="0" rIns="0" bIns="0" rtlCol="0" anchor="t"/>
          <a:lstStyle/>
          <a:p>
            <a:pPr indent="0" marL="0">
              <a:buNone/>
            </a:pPr>
            <a:r>
              <a:rPr lang="en-US" sz="850" dirty="0">
                <a:solidFill>
                  <a:srgbClr val="5B6B7C"/>
                </a:solidFill>
                <a:latin typeface="Calibri" pitchFamily="34" charset="0"/>
                <a:ea typeface="Calibri" pitchFamily="34" charset="-122"/>
                <a:cs typeface="Calibri" pitchFamily="34" charset="-120"/>
              </a:rPr>
              <a:t>Owners: Product, Analytics, Finance, Support, CS, Host Partnerships, Marketing.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3B82F6"/>
                </a:solidFill>
                <a:latin typeface="Calibri" pitchFamily="34" charset="0"/>
                <a:ea typeface="Calibri" pitchFamily="34" charset="-122"/>
                <a:cs typeface="Calibri" pitchFamily="34" charset="-120"/>
              </a:rPr>
              <a:t>APPENDIX · METRICS AND GUARDRAILS</a:t>
            </a:r>
            <a:endParaRPr lang="en-US" sz="1050" dirty="0"/>
          </a:p>
        </p:txBody>
      </p:sp>
      <p:sp>
        <p:nvSpPr>
          <p:cNvPr id="3" name="Text 1"/>
          <p:cNvSpPr txBox="1"/>
          <p:nvPr/>
        </p:nvSpPr>
        <p:spPr>
          <a:xfrm>
            <a:off x="457200" y="502920"/>
            <a:ext cx="8229600" cy="502920"/>
          </a:xfrm>
          <a:prstGeom prst="rect">
            <a:avLst/>
          </a:prstGeom>
          <a:noFill/>
          <a:ln/>
        </p:spPr>
        <p:txBody>
          <a:bodyPr wrap="square" lIns="0" tIns="0" rIns="0" bIns="0" rtlCol="0" anchor="t"/>
          <a:lstStyle/>
          <a:p>
            <a:pPr indent="0" marL="0">
              <a:buNone/>
            </a:pPr>
            <a:r>
              <a:rPr lang="en-US" sz="2400" b="1" dirty="0">
                <a:solidFill>
                  <a:srgbClr val="07162C"/>
                </a:solidFill>
                <a:latin typeface="Cambria" pitchFamily="34" charset="0"/>
                <a:ea typeface="Cambria" pitchFamily="34" charset="-122"/>
                <a:cs typeface="Cambria" pitchFamily="34" charset="-120"/>
              </a:rPr>
              <a:t>Success metrics and tripwires</a:t>
            </a:r>
            <a:endParaRPr lang="en-US" sz="2400" dirty="0"/>
          </a:p>
        </p:txBody>
      </p:sp>
      <p:sp>
        <p:nvSpPr>
          <p:cNvPr id="4" name="Text 2"/>
          <p:cNvSpPr txBox="1"/>
          <p:nvPr/>
        </p:nvSpPr>
        <p:spPr>
          <a:xfrm>
            <a:off x="8412480" y="4828032"/>
            <a:ext cx="274320" cy="18288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457200" y="1097280"/>
            <a:ext cx="4023360" cy="283464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4663440" y="1097280"/>
            <a:ext cx="4023360" cy="2834640"/>
          </a:xfrm>
          <a:prstGeom prst="rect">
            <a:avLst/>
          </a:prstGeom>
          <a:solidFill>
            <a:srgbClr val="07162C"/>
          </a:solidFill>
          <a:ln w="12700">
            <a:solidFill>
              <a:srgbClr val="07162C"/>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40080" y="1216152"/>
            <a:ext cx="3657600" cy="256032"/>
          </a:xfrm>
          <a:prstGeom prst="rect">
            <a:avLst/>
          </a:prstGeom>
          <a:noFill/>
          <a:ln/>
        </p:spPr>
        <p:txBody>
          <a:bodyPr wrap="square" lIns="0" tIns="0" rIns="0" bIns="0" rtlCol="0" anchor="ctr"/>
          <a:lstStyle/>
          <a:p>
            <a:pPr indent="0" marL="0">
              <a:buNone/>
            </a:pPr>
            <a:r>
              <a:rPr lang="en-US" sz="1100" b="1" spc="150" kern="0" dirty="0">
                <a:solidFill>
                  <a:srgbClr val="3B82F6"/>
                </a:solidFill>
                <a:latin typeface="Calibri" pitchFamily="34" charset="0"/>
                <a:ea typeface="Calibri" pitchFamily="34" charset="-122"/>
                <a:cs typeface="Calibri" pitchFamily="34" charset="-120"/>
              </a:rPr>
              <a:t>SUCCESS LOOKS LIKE</a:t>
            </a:r>
            <a:endParaRPr lang="en-US" sz="1100" dirty="0"/>
          </a:p>
        </p:txBody>
      </p:sp>
      <p:sp>
        <p:nvSpPr>
          <p:cNvPr id="8" name="Text 6"/>
          <p:cNvSpPr txBox="1"/>
          <p:nvPr/>
        </p:nvSpPr>
        <p:spPr>
          <a:xfrm>
            <a:off x="640080" y="1554480"/>
            <a:ext cx="3657600" cy="2743200"/>
          </a:xfrm>
          <a:prstGeom prst="rect">
            <a:avLst/>
          </a:prstGeom>
          <a:noFill/>
          <a:ln/>
        </p:spPr>
        <p:txBody>
          <a:bodyPr wrap="square" lIns="0" tIns="0" rIns="0" bIns="0" rtlCol="0" anchor="t"/>
          <a:lstStyle/>
          <a:p>
            <a:pPr marL="152400" indent="-152400">
              <a:spcAft>
                <a:spcPts val="900"/>
              </a:spcAft>
              <a:buSzPct val="100000"/>
              <a:buChar char="•"/>
            </a:pPr>
            <a:r>
              <a:rPr lang="en-US" sz="1300" dirty="0">
                <a:solidFill>
                  <a:srgbClr val="0F1E33"/>
                </a:solidFill>
                <a:latin typeface="Calibri" pitchFamily="34" charset="0"/>
                <a:ea typeface="Calibri" pitchFamily="34" charset="-122"/>
                <a:cs typeface="Calibri" pitchFamily="34" charset="-120"/>
              </a:rPr>
              <a:t>North-star: fully paid group bookings per month</a:t>
            </a:r>
            <a:endParaRPr lang="en-US" sz="1300" dirty="0"/>
          </a:p>
          <a:p>
            <a:pPr marL="152400" indent="-152400">
              <a:spcAft>
                <a:spcPts val="900"/>
              </a:spcAft>
              <a:buSzPct val="100000"/>
              <a:buChar char="•"/>
            </a:pPr>
            <a:r>
              <a:rPr lang="en-US" sz="1300" dirty="0">
                <a:solidFill>
                  <a:srgbClr val="0F1E33"/>
                </a:solidFill>
                <a:latin typeface="Calibri" pitchFamily="34" charset="0"/>
                <a:ea typeface="Calibri" pitchFamily="34" charset="-122"/>
                <a:cs typeface="Calibri" pitchFamily="34" charset="-120"/>
              </a:rPr>
              <a:t>70%+ of invitees pay within 72 hours (proposed)</a:t>
            </a:r>
            <a:endParaRPr lang="en-US" sz="1300" dirty="0"/>
          </a:p>
          <a:p>
            <a:pPr marL="152400" indent="-152400">
              <a:spcAft>
                <a:spcPts val="900"/>
              </a:spcAft>
              <a:buSzPct val="100000"/>
              <a:buChar char="•"/>
            </a:pPr>
            <a:r>
              <a:rPr lang="en-US" sz="1300" dirty="0">
                <a:solidFill>
                  <a:srgbClr val="0F1E33"/>
                </a:solidFill>
                <a:latin typeface="Calibri" pitchFamily="34" charset="0"/>
                <a:ea typeface="Calibri" pitchFamily="34" charset="-122"/>
                <a:cs typeface="Calibri" pitchFamily="34" charset="-120"/>
              </a:rPr>
              <a:t>2+ new-to-Roamly accounts per group (proposed)</a:t>
            </a:r>
            <a:endParaRPr lang="en-US" sz="1300" dirty="0"/>
          </a:p>
          <a:p>
            <a:pPr marL="152400" indent="-152400">
              <a:spcAft>
                <a:spcPts val="900"/>
              </a:spcAft>
              <a:buSzPct val="100000"/>
              <a:buChar char="•"/>
            </a:pPr>
            <a:r>
              <a:rPr lang="en-US" sz="1300" dirty="0">
                <a:solidFill>
                  <a:srgbClr val="0F1E33"/>
                </a:solidFill>
                <a:latin typeface="Calibri" pitchFamily="34" charset="0"/>
                <a:ea typeface="Calibri" pitchFamily="34" charset="-122"/>
                <a:cs typeface="Calibri" pitchFamily="34" charset="-120"/>
              </a:rPr>
              <a:t>Group-session completion closes half the gap to individual</a:t>
            </a:r>
            <a:endParaRPr lang="en-US" sz="1300" dirty="0"/>
          </a:p>
          <a:p>
            <a:pPr marL="152400" indent="-152400">
              <a:spcAft>
                <a:spcPts val="900"/>
              </a:spcAft>
              <a:buSzPct val="100000"/>
              <a:buChar char="•"/>
            </a:pPr>
            <a:r>
              <a:rPr lang="en-US" sz="1300" dirty="0">
                <a:solidFill>
                  <a:srgbClr val="0F1E33"/>
                </a:solidFill>
                <a:latin typeface="Calibri" pitchFamily="34" charset="0"/>
                <a:ea typeface="Calibri" pitchFamily="34" charset="-122"/>
                <a:cs typeface="Calibri" pitchFamily="34" charset="-120"/>
              </a:rPr>
              <a:t>Individual booking conversion within ±2% of holdout</a:t>
            </a:r>
            <a:endParaRPr lang="en-US" sz="1300" dirty="0"/>
          </a:p>
        </p:txBody>
      </p:sp>
      <p:sp>
        <p:nvSpPr>
          <p:cNvPr id="9" name="Text 7"/>
          <p:cNvSpPr txBox="1"/>
          <p:nvPr/>
        </p:nvSpPr>
        <p:spPr>
          <a:xfrm>
            <a:off x="4846320" y="1216152"/>
            <a:ext cx="3657600" cy="256032"/>
          </a:xfrm>
          <a:prstGeom prst="rect">
            <a:avLst/>
          </a:prstGeom>
          <a:noFill/>
          <a:ln/>
        </p:spPr>
        <p:txBody>
          <a:bodyPr wrap="square" lIns="0" tIns="0" rIns="0" bIns="0" rtlCol="0" anchor="ctr"/>
          <a:lstStyle/>
          <a:p>
            <a:pPr indent="0" marL="0">
              <a:buNone/>
            </a:pPr>
            <a:r>
              <a:rPr lang="en-US" sz="1100" b="1" spc="150" kern="0" dirty="0">
                <a:solidFill>
                  <a:srgbClr val="F59E5B"/>
                </a:solidFill>
                <a:latin typeface="Calibri" pitchFamily="34" charset="0"/>
                <a:ea typeface="Calibri" pitchFamily="34" charset="-122"/>
                <a:cs typeface="Calibri" pitchFamily="34" charset="-120"/>
              </a:rPr>
              <a:t>TRIPWIRES: WHEN TO PULL BACK</a:t>
            </a:r>
            <a:endParaRPr lang="en-US" sz="1100" dirty="0"/>
          </a:p>
        </p:txBody>
      </p:sp>
      <p:sp>
        <p:nvSpPr>
          <p:cNvPr id="10" name="Text 8"/>
          <p:cNvSpPr txBox="1"/>
          <p:nvPr/>
        </p:nvSpPr>
        <p:spPr>
          <a:xfrm>
            <a:off x="4846320" y="1554480"/>
            <a:ext cx="3657600" cy="2743200"/>
          </a:xfrm>
          <a:prstGeom prst="rect">
            <a:avLst/>
          </a:prstGeom>
          <a:noFill/>
          <a:ln/>
        </p:spPr>
        <p:txBody>
          <a:bodyPr wrap="square" lIns="0" tIns="0" rIns="0" bIns="0" rtlCol="0" anchor="t"/>
          <a:lstStyle/>
          <a:p>
            <a:pPr marL="152400" indent="-1524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Individual conversion down more than 3% for two weeks: pause exposure</a:t>
            </a:r>
            <a:endParaRPr lang="en-US" sz="1300" dirty="0"/>
          </a:p>
          <a:p>
            <a:pPr marL="152400" indent="-1524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Under 40% of invitees pay in 72 hours by beta week 3: stop and fix the flow</a:t>
            </a:r>
            <a:endParaRPr lang="en-US" sz="1300" dirty="0"/>
          </a:p>
          <a:p>
            <a:pPr marL="152400" indent="-1524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Refunds, chargebacks or host cancellations above 2x baseline: pause fees</a:t>
            </a:r>
            <a:endParaRPr lang="en-US" sz="1300" dirty="0"/>
          </a:p>
          <a:p>
            <a:pPr marL="152400" indent="-1524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A fee cell that lowers the invitee payment rate: remove it</a:t>
            </a:r>
            <a:endParaRPr lang="en-US" sz="1300" dirty="0"/>
          </a:p>
        </p:txBody>
      </p:sp>
      <p:sp>
        <p:nvSpPr>
          <p:cNvPr id="11" name="Text 9"/>
          <p:cNvSpPr txBox="1"/>
          <p:nvPr/>
        </p:nvSpPr>
        <p:spPr>
          <a:xfrm>
            <a:off x="457200" y="4114800"/>
            <a:ext cx="8229600" cy="228600"/>
          </a:xfrm>
          <a:prstGeom prst="rect">
            <a:avLst/>
          </a:prstGeom>
          <a:noFill/>
          <a:ln/>
        </p:spPr>
        <p:txBody>
          <a:bodyPr wrap="square" lIns="0" tIns="0" rIns="0" bIns="0" rtlCol="0" anchor="ctr"/>
          <a:lstStyle/>
          <a:p>
            <a:pPr indent="0" marL="0">
              <a:buNone/>
            </a:pPr>
            <a:r>
              <a:rPr lang="en-US" sz="1050" i="1" dirty="0">
                <a:solidFill>
                  <a:srgbClr val="5B6B7C"/>
                </a:solidFill>
                <a:latin typeface="Calibri" pitchFamily="34" charset="0"/>
                <a:ea typeface="Calibri" pitchFamily="34" charset="-122"/>
                <a:cs typeface="Calibri" pitchFamily="34" charset="-120"/>
              </a:rPr>
              <a:t>All thresholds are proposals to re-set against the week-0 baseline.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3B82F6"/>
                </a:solidFill>
                <a:latin typeface="Calibri" pitchFamily="34" charset="0"/>
                <a:ea typeface="Calibri" pitchFamily="34" charset="-122"/>
                <a:cs typeface="Calibri" pitchFamily="34" charset="-120"/>
              </a:rPr>
              <a:t>APPENDIX · ASSUMPTIONS AND RISKS</a:t>
            </a:r>
            <a:endParaRPr lang="en-US" sz="1050" dirty="0"/>
          </a:p>
        </p:txBody>
      </p:sp>
      <p:sp>
        <p:nvSpPr>
          <p:cNvPr id="3" name="Text 1"/>
          <p:cNvSpPr txBox="1"/>
          <p:nvPr/>
        </p:nvSpPr>
        <p:spPr>
          <a:xfrm>
            <a:off x="457200" y="502920"/>
            <a:ext cx="8229600" cy="502920"/>
          </a:xfrm>
          <a:prstGeom prst="rect">
            <a:avLst/>
          </a:prstGeom>
          <a:noFill/>
          <a:ln/>
        </p:spPr>
        <p:txBody>
          <a:bodyPr wrap="square" lIns="0" tIns="0" rIns="0" bIns="0" rtlCol="0" anchor="t"/>
          <a:lstStyle/>
          <a:p>
            <a:pPr indent="0" marL="0">
              <a:buNone/>
            </a:pPr>
            <a:r>
              <a:rPr lang="en-US" sz="2400" b="1" dirty="0">
                <a:solidFill>
                  <a:srgbClr val="07162C"/>
                </a:solidFill>
                <a:latin typeface="Cambria" pitchFamily="34" charset="0"/>
                <a:ea typeface="Cambria" pitchFamily="34" charset="-122"/>
                <a:cs typeface="Cambria" pitchFamily="34" charset="-120"/>
              </a:rPr>
              <a:t>What we still need to validate</a:t>
            </a:r>
            <a:endParaRPr lang="en-US" sz="2400" dirty="0"/>
          </a:p>
        </p:txBody>
      </p:sp>
      <p:sp>
        <p:nvSpPr>
          <p:cNvPr id="4" name="Text 2"/>
          <p:cNvSpPr txBox="1"/>
          <p:nvPr/>
        </p:nvSpPr>
        <p:spPr>
          <a:xfrm>
            <a:off x="8412480" y="4828032"/>
            <a:ext cx="274320" cy="18288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457200" y="1097280"/>
            <a:ext cx="265176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594360" y="1207008"/>
            <a:ext cx="2377440" cy="457200"/>
          </a:xfrm>
          <a:prstGeom prst="rect">
            <a:avLst/>
          </a:prstGeom>
          <a:noFill/>
          <a:ln/>
        </p:spPr>
        <p:txBody>
          <a:bodyPr wrap="square" lIns="0" tIns="0" rIns="0" bIns="0" rtlCol="0" anchor="t"/>
          <a:lstStyle/>
          <a:p>
            <a:pPr indent="0" marL="0">
              <a:buNone/>
            </a:pPr>
            <a:r>
              <a:rPr lang="en-US" sz="1300" b="1" dirty="0">
                <a:solidFill>
                  <a:srgbClr val="07162C"/>
                </a:solidFill>
                <a:latin typeface="Cambria" pitchFamily="34" charset="0"/>
                <a:ea typeface="Cambria" pitchFamily="34" charset="-122"/>
                <a:cs typeface="Cambria" pitchFamily="34" charset="-120"/>
              </a:rPr>
              <a:t>Invitees join and pay fast</a:t>
            </a:r>
            <a:endParaRPr lang="en-US" sz="1300" dirty="0"/>
          </a:p>
        </p:txBody>
      </p:sp>
      <p:sp>
        <p:nvSpPr>
          <p:cNvPr id="7" name="Text 5"/>
          <p:cNvSpPr txBox="1"/>
          <p:nvPr/>
        </p:nvSpPr>
        <p:spPr>
          <a:xfrm>
            <a:off x="594360" y="1737360"/>
            <a:ext cx="2377440" cy="64008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Closed beta: pay-first vs account-first flows</a:t>
            </a:r>
            <a:endParaRPr lang="en-US" sz="1200" dirty="0"/>
          </a:p>
        </p:txBody>
      </p:sp>
      <p:sp>
        <p:nvSpPr>
          <p:cNvPr id="8" name="Shape 6"/>
          <p:cNvSpPr/>
          <p:nvPr/>
        </p:nvSpPr>
        <p:spPr>
          <a:xfrm>
            <a:off x="3246120" y="1097280"/>
            <a:ext cx="265176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383280" y="1207008"/>
            <a:ext cx="2377440" cy="457200"/>
          </a:xfrm>
          <a:prstGeom prst="rect">
            <a:avLst/>
          </a:prstGeom>
          <a:noFill/>
          <a:ln/>
        </p:spPr>
        <p:txBody>
          <a:bodyPr wrap="square" lIns="0" tIns="0" rIns="0" bIns="0" rtlCol="0" anchor="t"/>
          <a:lstStyle/>
          <a:p>
            <a:pPr indent="0" marL="0">
              <a:buNone/>
            </a:pPr>
            <a:r>
              <a:rPr lang="en-US" sz="1300" b="1" dirty="0">
                <a:solidFill>
                  <a:srgbClr val="07162C"/>
                </a:solidFill>
                <a:latin typeface="Cambria" pitchFamily="34" charset="0"/>
                <a:ea typeface="Cambria" pitchFamily="34" charset="-122"/>
                <a:cs typeface="Cambria" pitchFamily="34" charset="-120"/>
              </a:rPr>
              <a:t>Who bears the fee</a:t>
            </a:r>
            <a:endParaRPr lang="en-US" sz="1300" dirty="0"/>
          </a:p>
        </p:txBody>
      </p:sp>
      <p:sp>
        <p:nvSpPr>
          <p:cNvPr id="10" name="Text 8"/>
          <p:cNvSpPr txBox="1"/>
          <p:nvPr/>
        </p:nvSpPr>
        <p:spPr>
          <a:xfrm>
            <a:off x="3383280" y="1737360"/>
            <a:ext cx="2377440" cy="64008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Beta fee cells; Van Westendorp; Max-Diff</a:t>
            </a:r>
            <a:endParaRPr lang="en-US" sz="1200" dirty="0"/>
          </a:p>
        </p:txBody>
      </p:sp>
      <p:sp>
        <p:nvSpPr>
          <p:cNvPr id="11" name="Shape 9"/>
          <p:cNvSpPr/>
          <p:nvPr/>
        </p:nvSpPr>
        <p:spPr>
          <a:xfrm>
            <a:off x="6035040" y="1097280"/>
            <a:ext cx="265176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6172200" y="1207008"/>
            <a:ext cx="2377440" cy="457200"/>
          </a:xfrm>
          <a:prstGeom prst="rect">
            <a:avLst/>
          </a:prstGeom>
          <a:noFill/>
          <a:ln/>
        </p:spPr>
        <p:txBody>
          <a:bodyPr wrap="square" lIns="0" tIns="0" rIns="0" bIns="0" rtlCol="0" anchor="t"/>
          <a:lstStyle/>
          <a:p>
            <a:pPr indent="0" marL="0">
              <a:buNone/>
            </a:pPr>
            <a:r>
              <a:rPr lang="en-US" sz="1300" b="1" dirty="0">
                <a:solidFill>
                  <a:srgbClr val="07162C"/>
                </a:solidFill>
                <a:latin typeface="Cambria" pitchFamily="34" charset="0"/>
                <a:ea typeface="Cambria" pitchFamily="34" charset="-122"/>
                <a:cs typeface="Cambria" pitchFamily="34" charset="-120"/>
              </a:rPr>
              <a:t>Unpaid-share policy</a:t>
            </a:r>
            <a:endParaRPr lang="en-US" sz="1300" dirty="0"/>
          </a:p>
        </p:txBody>
      </p:sp>
      <p:sp>
        <p:nvSpPr>
          <p:cNvPr id="13" name="Text 11"/>
          <p:cNvSpPr txBox="1"/>
          <p:nvPr/>
        </p:nvSpPr>
        <p:spPr>
          <a:xfrm>
            <a:off x="6172200" y="1737360"/>
            <a:ext cx="2377440" cy="64008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Decide with Product, Finance, Host Partnerships before beta</a:t>
            </a:r>
            <a:endParaRPr lang="en-US" sz="1200" dirty="0"/>
          </a:p>
        </p:txBody>
      </p:sp>
      <p:sp>
        <p:nvSpPr>
          <p:cNvPr id="14" name="Shape 12"/>
          <p:cNvSpPr/>
          <p:nvPr/>
        </p:nvSpPr>
        <p:spPr>
          <a:xfrm>
            <a:off x="457200" y="2560320"/>
            <a:ext cx="265176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594360" y="2670048"/>
            <a:ext cx="2377440" cy="457200"/>
          </a:xfrm>
          <a:prstGeom prst="rect">
            <a:avLst/>
          </a:prstGeom>
          <a:noFill/>
          <a:ln/>
        </p:spPr>
        <p:txBody>
          <a:bodyPr wrap="square" lIns="0" tIns="0" rIns="0" bIns="0" rtlCol="0" anchor="t"/>
          <a:lstStyle/>
          <a:p>
            <a:pPr indent="0" marL="0">
              <a:buNone/>
            </a:pPr>
            <a:r>
              <a:rPr lang="en-US" sz="1300" b="1" dirty="0">
                <a:solidFill>
                  <a:srgbClr val="07162C"/>
                </a:solidFill>
                <a:latin typeface="Cambria" pitchFamily="34" charset="0"/>
                <a:ea typeface="Cambria" pitchFamily="34" charset="-122"/>
                <a:cs typeface="Cambria" pitchFamily="34" charset="-120"/>
              </a:rPr>
              <a:t>Host capacity for parties of ~12</a:t>
            </a:r>
            <a:endParaRPr lang="en-US" sz="1300" dirty="0"/>
          </a:p>
        </p:txBody>
      </p:sp>
      <p:sp>
        <p:nvSpPr>
          <p:cNvPr id="16" name="Text 14"/>
          <p:cNvSpPr txBox="1"/>
          <p:nvPr/>
        </p:nvSpPr>
        <p:spPr>
          <a:xfrm>
            <a:off x="594360" y="3200400"/>
            <a:ext cx="2377440" cy="64008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Host Partnerships confirms per experience type</a:t>
            </a:r>
            <a:endParaRPr lang="en-US" sz="1200" dirty="0"/>
          </a:p>
        </p:txBody>
      </p:sp>
      <p:sp>
        <p:nvSpPr>
          <p:cNvPr id="17" name="Shape 15"/>
          <p:cNvSpPr/>
          <p:nvPr/>
        </p:nvSpPr>
        <p:spPr>
          <a:xfrm>
            <a:off x="3246120" y="2560320"/>
            <a:ext cx="265176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3383280" y="2670048"/>
            <a:ext cx="2377440" cy="457200"/>
          </a:xfrm>
          <a:prstGeom prst="rect">
            <a:avLst/>
          </a:prstGeom>
          <a:noFill/>
          <a:ln/>
        </p:spPr>
        <p:txBody>
          <a:bodyPr wrap="square" lIns="0" tIns="0" rIns="0" bIns="0" rtlCol="0" anchor="t"/>
          <a:lstStyle/>
          <a:p>
            <a:pPr indent="0" marL="0">
              <a:buNone/>
            </a:pPr>
            <a:r>
              <a:rPr lang="en-US" sz="1300" b="1" dirty="0">
                <a:solidFill>
                  <a:srgbClr val="07162C"/>
                </a:solidFill>
                <a:latin typeface="Cambria" pitchFamily="34" charset="0"/>
                <a:ea typeface="Cambria" pitchFamily="34" charset="-122"/>
                <a:cs typeface="Cambria" pitchFamily="34" charset="-120"/>
              </a:rPr>
              <a:t>Competitor claims</a:t>
            </a:r>
            <a:endParaRPr lang="en-US" sz="1300" dirty="0"/>
          </a:p>
        </p:txBody>
      </p:sp>
      <p:sp>
        <p:nvSpPr>
          <p:cNvPr id="19" name="Text 17"/>
          <p:cNvSpPr txBox="1"/>
          <p:nvPr/>
        </p:nvSpPr>
        <p:spPr>
          <a:xfrm>
            <a:off x="3383280" y="3200400"/>
            <a:ext cx="2377440" cy="64008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Try Viator, GetYourGuide and Airbnb group flows hands-on</a:t>
            </a:r>
            <a:endParaRPr lang="en-US" sz="1200" dirty="0"/>
          </a:p>
        </p:txBody>
      </p:sp>
      <p:sp>
        <p:nvSpPr>
          <p:cNvPr id="20" name="Shape 18"/>
          <p:cNvSpPr/>
          <p:nvPr/>
        </p:nvSpPr>
        <p:spPr>
          <a:xfrm>
            <a:off x="6035040" y="2560320"/>
            <a:ext cx="2651760" cy="132588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6172200" y="2670048"/>
            <a:ext cx="2377440" cy="457200"/>
          </a:xfrm>
          <a:prstGeom prst="rect">
            <a:avLst/>
          </a:prstGeom>
          <a:noFill/>
          <a:ln/>
        </p:spPr>
        <p:txBody>
          <a:bodyPr wrap="square" lIns="0" tIns="0" rIns="0" bIns="0" rtlCol="0" anchor="t"/>
          <a:lstStyle/>
          <a:p>
            <a:pPr indent="0" marL="0">
              <a:buNone/>
            </a:pPr>
            <a:r>
              <a:rPr lang="en-US" sz="1300" b="1" dirty="0">
                <a:solidFill>
                  <a:srgbClr val="07162C"/>
                </a:solidFill>
                <a:latin typeface="Cambria" pitchFamily="34" charset="0"/>
                <a:ea typeface="Cambria" pitchFamily="34" charset="-122"/>
                <a:cs typeface="Cambria" pitchFamily="34" charset="-120"/>
              </a:rPr>
              <a:t>Roamly baselines and commission</a:t>
            </a:r>
            <a:endParaRPr lang="en-US" sz="1300" dirty="0"/>
          </a:p>
        </p:txBody>
      </p:sp>
      <p:sp>
        <p:nvSpPr>
          <p:cNvPr id="22" name="Text 20"/>
          <p:cNvSpPr txBox="1"/>
          <p:nvPr/>
        </p:nvSpPr>
        <p:spPr>
          <a:xfrm>
            <a:off x="6172200" y="3200400"/>
            <a:ext cx="2377440" cy="64008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Analytics and Finance pull data in week 0</a:t>
            </a:r>
            <a:endParaRPr lang="en-US" sz="1200" dirty="0"/>
          </a:p>
        </p:txBody>
      </p:sp>
      <p:sp>
        <p:nvSpPr>
          <p:cNvPr id="23" name="Text 21"/>
          <p:cNvSpPr txBox="1"/>
          <p:nvPr/>
        </p:nvSpPr>
        <p:spPr>
          <a:xfrm>
            <a:off x="457200" y="4773168"/>
            <a:ext cx="7863840" cy="274320"/>
          </a:xfrm>
          <a:prstGeom prst="rect">
            <a:avLst/>
          </a:prstGeom>
          <a:noFill/>
          <a:ln/>
        </p:spPr>
        <p:txBody>
          <a:bodyPr wrap="square" lIns="0" tIns="0" rIns="0" bIns="0" rtlCol="0" anchor="t"/>
          <a:lstStyle/>
          <a:p>
            <a:pPr indent="0" marL="0">
              <a:buNone/>
            </a:pPr>
            <a:r>
              <a:rPr lang="en-US" sz="850" dirty="0">
                <a:solidFill>
                  <a:srgbClr val="5B6B7C"/>
                </a:solidFill>
                <a:latin typeface="Calibri" pitchFamily="34" charset="0"/>
                <a:ea typeface="Calibri" pitchFamily="34" charset="-122"/>
                <a:cs typeface="Calibri" pitchFamily="34" charset="-120"/>
              </a:rPr>
              <a:t>No internal Roamly data was provided beyond the brief; external facts are cited and Roamly-specific numbers are labeled assumptions.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Roamly Groups — Go-To-Market Final Project</dc:title>
  <dc:subject>PptxGenJS Presentation</dc:subject>
  <dc:creator>PptxGenJS</dc:creator>
  <cp:lastModifiedBy>PptxGenJS</cp:lastModifiedBy>
  <cp:revision>1</cp:revision>
  <dcterms:created xsi:type="dcterms:W3CDTF">2026-10-01T01:29:47Z</dcterms:created>
  <dcterms:modified xsi:type="dcterms:W3CDTF">2026-10-01T01:29:47Z</dcterms:modified>
</cp:coreProperties>
</file>